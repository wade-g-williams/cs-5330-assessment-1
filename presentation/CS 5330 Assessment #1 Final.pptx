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52a85b759_4_75: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52a85b759_4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Hi everyone — I'm Wade Williams</a:t>
            </a:r>
            <a:r>
              <a:rPr lang="en"/>
              <a:t>. I’m a 2nd year Masters student pursuing my Master’s in Robotics at Northeastern University </a:t>
            </a:r>
            <a:r>
              <a:rPr lang="en" sz="1100"/>
              <a:t>and this is my pres</a:t>
            </a:r>
            <a:r>
              <a:rPr lang="en"/>
              <a:t>entation as part of my Computer Vision course’s Topics in Computer Vision series where I’ll be</a:t>
            </a:r>
            <a:r>
              <a:rPr lang="en" sz="1100"/>
              <a:t> </a:t>
            </a:r>
            <a:r>
              <a:rPr lang="en"/>
              <a:t>covering</a:t>
            </a:r>
            <a:r>
              <a:rPr lang="en" sz="1100"/>
              <a:t> convolutio</a:t>
            </a:r>
            <a:r>
              <a:rPr lang="en"/>
              <a:t>n, handling edges, and when to use the Valid, Same, and Full Convolution methods</a:t>
            </a:r>
            <a:r>
              <a:rPr lang="en" sz="1100"/>
              <a:t>. </a:t>
            </a:r>
            <a:endParaRPr/>
          </a:p>
          <a:p>
            <a:pPr indent="-298450" lvl="0" marL="457200" rtl="0" algn="l">
              <a:lnSpc>
                <a:spcPct val="100000"/>
              </a:lnSpc>
              <a:spcBef>
                <a:spcPts val="0"/>
              </a:spcBef>
              <a:spcAft>
                <a:spcPts val="0"/>
              </a:spcAft>
              <a:buSzPts val="1100"/>
              <a:buChar char="-"/>
            </a:pPr>
            <a:r>
              <a:rPr lang="en"/>
              <a:t>This presentation is going to assume we’ve already covered the definition of convolution and touched on the ways in which we can pad an image and is going to focus on the methods of Valid, Same, and Full Convolution, what they are, and how we know when to use each one.</a:t>
            </a:r>
            <a:endParaRPr/>
          </a:p>
          <a:p>
            <a:pPr indent="-298450" lvl="0" marL="457200" rtl="0" algn="l">
              <a:lnSpc>
                <a:spcPct val="100000"/>
              </a:lnSpc>
              <a:spcBef>
                <a:spcPts val="0"/>
              </a:spcBef>
              <a:spcAft>
                <a:spcPts val="0"/>
              </a:spcAft>
              <a:buSzPts val="1100"/>
              <a:buChar char="-"/>
            </a:pPr>
            <a:r>
              <a:rPr lang="en"/>
              <a:t>Convolution is a seemingly simple topic that actually has a lot of complexity and nuance when it comes to how to actually implement it across various applications, so I hope this presentation is helpful.</a:t>
            </a:r>
            <a:endParaRPr/>
          </a:p>
          <a:p>
            <a:pPr indent="0" lvl="0" marL="0" rtl="0" algn="l">
              <a:lnSpc>
                <a:spcPct val="100000"/>
              </a:lnSpc>
              <a:spcBef>
                <a:spcPts val="0"/>
              </a:spcBef>
              <a:spcAft>
                <a:spcPts val="0"/>
              </a:spcAft>
              <a:buNone/>
            </a:pPr>
            <a:r>
              <a:t/>
            </a:r>
            <a:endParaRPr/>
          </a:p>
        </p:txBody>
      </p:sp>
      <p:sp>
        <p:nvSpPr>
          <p:cNvPr id="128" name="Google Shape;128;g3f52a85b759_4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52a85b759_4_108: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f52a85b759_4_1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let's recall a bit about convolution.</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Informally, we can define convolution as flipping the kernel, and then at every position, summing up the elementwise products between the kernel and the image underneath it.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 stop the kernel makes produces exactly one output pixel, which we can see in the top left image is the shaded pixel.</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recall that when we do convolution, we’re forced to make a decision – how do we handle edges?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we’re doing convolution on only the pixels where the entire kernel fits inside the image, one problem you’ll notice immediately is that the image shrinks.</a:t>
            </a:r>
            <a:endParaRPr sz="1200">
              <a:solidFill>
                <a:schemeClr val="dk1"/>
              </a:solidFill>
              <a:latin typeface="Calibri"/>
              <a:ea typeface="Calibri"/>
              <a:cs typeface="Calibri"/>
              <a:sym typeface="Calibri"/>
            </a:endParaRPr>
          </a:p>
        </p:txBody>
      </p:sp>
      <p:sp>
        <p:nvSpPr>
          <p:cNvPr id="161" name="Google Shape;161;g3f52a85b759_4_1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52a85b759_4_14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f52a85b759_4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illustrate why this shrinkage happens and convey why it's an issue, let's walk through a quick example.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the output equation for a convolution that uses no padding, where we're only doing the convolution at pixels where the entire kernel fits inside the image, so not at the edges.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this equation that gives us the output size of the image, N is the image size per dimension, and K is the kernel size per dimension. So if we're using a 3 by 3 kernel, K would just be 3.</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dimension here is just the image dimension N minus the kernel size K plus one.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implies that every pass we do costs K minus 1 pixels in each dimension.</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this greyscale image of an old Waymo, which has dimensions 108 by 200, if we use a blur kernel that is 21 by 21, every pass removes 20 pixels in both the x and y directions, or 10 pixels on each side of the image.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After 1 pass, the 108 by 200 pixel image shrinks to an 88 by 180 pixel image.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After 2 passes, it shrinks to 68 by 160 pixels.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if we go all the way to pass 6, the kernel is now bigger than what's left of the image, and computing the convolution is impossible.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a problem for multiple reasons, but intuitively, what if we care about the information at the edge of the image?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example, what if we were in a self-driving car and there was a person walking in front of our car, but we could only see them at the very edge of our camera view? If we're doing convolution with no padding and not accounting for the edges, our outputs wouldn't even include them.</a:t>
            </a:r>
            <a:endParaRPr sz="1200">
              <a:solidFill>
                <a:schemeClr val="dk1"/>
              </a:solidFill>
              <a:latin typeface="Calibri"/>
              <a:ea typeface="Calibri"/>
              <a:cs typeface="Calibri"/>
              <a:sym typeface="Calibri"/>
            </a:endParaRPr>
          </a:p>
        </p:txBody>
      </p:sp>
      <p:sp>
        <p:nvSpPr>
          <p:cNvPr id="199" name="Google Shape;199;g3f52a85b759_4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2a85b759_4_18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f52a85b759_4_1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There's also another problem that is a bit more subtle.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 only is the image getting smaller, but without accounting for the edges, we're also biasing the convolution against the edges. Or said differently, the kernel passes over the edge pixels fewer times than it does the center pixels.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consequence of this is that we extract less information from the edges than we do from the pixels where the kernel fits fully around them.</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the same example of the old Waymo, the top image shows the original image, and the bottom image shows each pixel weighted by how many times the sliding kernel actually uses it. Brighter means used more. Darker means used less.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be clear, the bottom image is not the output of the convolution. It's the input image, where each pixel's brightness shows how much the convolution actually uses it.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center pixels stay at full brightness because the kernel fully fits around them. But the edge pixels get darker</a:t>
            </a:r>
            <a:r>
              <a:rPr lang="en" sz="1200">
                <a:solidFill>
                  <a:schemeClr val="dk1"/>
                </a:solidFill>
                <a:latin typeface="Calibri"/>
                <a:ea typeface="Calibri"/>
                <a:cs typeface="Calibri"/>
                <a:sym typeface="Calibri"/>
              </a:rPr>
              <a:t> and darker</a:t>
            </a:r>
            <a:r>
              <a:rPr lang="en" sz="1200">
                <a:solidFill>
                  <a:schemeClr val="dk1"/>
                </a:solidFill>
                <a:latin typeface="Calibri"/>
                <a:ea typeface="Calibri"/>
                <a:cs typeface="Calibri"/>
                <a:sym typeface="Calibri"/>
              </a:rPr>
              <a:t>, because the kernel touches them fewer times. A corner pixel only gets used once, while a center pixel gets used 441 times.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dashed box shows where the smaller 88 by 180 output would sit after 1 pass if we </a:t>
            </a:r>
            <a:r>
              <a:rPr lang="en" sz="1200">
                <a:solidFill>
                  <a:schemeClr val="dk1"/>
                </a:solidFill>
                <a:latin typeface="Calibri"/>
                <a:ea typeface="Calibri"/>
                <a:cs typeface="Calibri"/>
                <a:sym typeface="Calibri"/>
              </a:rPr>
              <a:t>restricted</a:t>
            </a:r>
            <a:r>
              <a:rPr lang="en" sz="1200">
                <a:solidFill>
                  <a:schemeClr val="dk1"/>
                </a:solidFill>
                <a:latin typeface="Calibri"/>
                <a:ea typeface="Calibri"/>
                <a:cs typeface="Calibri"/>
                <a:sym typeface="Calibri"/>
              </a:rPr>
              <a:t> the output to only the pixels where the kernel fit completely inside the image. Anything outside of it doesn't even get its own output pixel.</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blue grid shows this exactly with a smaller 3 by 3 example. The center pixels get used 9 times, but the corner pixels, only once.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now we have two problems with one cause. Our image keeps shrinking and we’re losing information at the edges.</a:t>
            </a:r>
            <a:endParaRPr sz="1200">
              <a:solidFill>
                <a:schemeClr val="dk1"/>
              </a:solidFill>
              <a:latin typeface="Calibri"/>
              <a:ea typeface="Calibri"/>
              <a:cs typeface="Calibri"/>
              <a:sym typeface="Calibri"/>
            </a:endParaRPr>
          </a:p>
        </p:txBody>
      </p:sp>
      <p:sp>
        <p:nvSpPr>
          <p:cNvPr id="241" name="Google Shape;241;g3f52a85b759_4_1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2a85b759_4_22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g3f52a85b759_4_2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Luckily, we have a solution — padding the image. Now, this is not the only way to handle the edges. We could also special-case them, but we're going to focus on padding since it pertains more directly to the convolution methods we're talking about.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 padding does is add a border of extra pixels around the image before we do the convolution, like putting a frame of values around the image.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once we have padding, one equation covers everything. The output is N plus 2 p minus K plus 1, where p is how much padding we add per side. Valid, same, and full convolution are really just three choices of p, and an easy way to categorize them is by how the size of the output relates to the size of the input.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Valid convolution is when we use no padding at all, and only do the convolution where the kernel fits entirely inside the image. This is what we were doing on the previous slides — the output shrinks to N minus K plus 1, and we lose information at the edges.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Same convolution uses just enough padding that the kernel can be centered on every pixel of the original image. This results in the output being the same size as the input. And as the example at the bottom shows, how much padding we need depends on the kernel — for a 3 by 3 kernel, one layer.</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 convolution adds even more padding. Here we center the kernel even on cells outside the original image, so we compute an output everywhere the kernel overlaps the image at all. This results in the output being larger than the input.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you might be wondering — why would we ever want a smaller output, and be fine losing the edges? Why would we ever want a larger output? And could same convolution have downsides? This is what we’ll cover in the next few slides.</a:t>
            </a:r>
            <a:endParaRPr sz="1200">
              <a:solidFill>
                <a:schemeClr val="dk1"/>
              </a:solidFill>
              <a:latin typeface="Calibri"/>
              <a:ea typeface="Calibri"/>
              <a:cs typeface="Calibri"/>
              <a:sym typeface="Calibri"/>
            </a:endParaRPr>
          </a:p>
        </p:txBody>
      </p:sp>
      <p:sp>
        <p:nvSpPr>
          <p:cNvPr id="280" name="Google Shape;280;g3f52a85b759_4_2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52a85b759_4_28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g3f52a85b759_4_2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let's examine valid convolution a little bit deeper.</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possibly great example that we probably encounter on a daily basis is the background blur filter on Zoom!</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we mentioned previously, valid convolution outputs a smaller image and loses information at the edges.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why would valid convolution be a good way to do the background blur on Zoom?</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Well here, these consequences that seem negative are actually things we're okay with and can even be a good thing.</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a smaller output image, there's actually less data to process, which could make the Zoom video display a bit less computationally expensive.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also don't really care if the display image is slightly smaller than the true image. This isn't a critical application like self-driving where losing information at the edges makes a big difference. We don't care.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Two other examples where valid convolution makes sense are template matching and autofocus. In both of these, the outputs are measurements, so we need the scores to come from real pixels — if we padded with made-up values, we'd be corrupting our own measurements.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Broadly speaking, valid convolution could be effective for any application where (1) reducing the size of our data is actually a good thing as in this Zoom example, (2) we want to avoid padding artifacts at the edges, or (3) the output image needs to contain strictly real data i.e. no padding.</a:t>
            </a:r>
            <a:endParaRPr sz="1200">
              <a:solidFill>
                <a:schemeClr val="dk1"/>
              </a:solidFill>
              <a:latin typeface="Calibri"/>
              <a:ea typeface="Calibri"/>
              <a:cs typeface="Calibri"/>
              <a:sym typeface="Calibri"/>
            </a:endParaRPr>
          </a:p>
        </p:txBody>
      </p:sp>
      <p:sp>
        <p:nvSpPr>
          <p:cNvPr id="341" name="Google Shape;341;g3f52a85b759_4_2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52a85b759_4_32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f52a85b759_4_3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a:t>
            </a:r>
            <a:r>
              <a:rPr lang="en" sz="1200">
                <a:solidFill>
                  <a:schemeClr val="dk1"/>
                </a:solidFill>
                <a:latin typeface="Calibri"/>
                <a:ea typeface="Calibri"/>
                <a:cs typeface="Calibri"/>
                <a:sym typeface="Calibri"/>
              </a:rPr>
              <a:t>let's</a:t>
            </a:r>
            <a:r>
              <a:rPr lang="en" sz="1200">
                <a:solidFill>
                  <a:schemeClr val="dk1"/>
                </a:solidFill>
                <a:latin typeface="Calibri"/>
                <a:ea typeface="Calibri"/>
                <a:cs typeface="Calibri"/>
                <a:sym typeface="Calibri"/>
              </a:rPr>
              <a:t> examine same convolution, which is the most common mode of convolution of these three.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same convolution, we pad the image just enough, so that the center of the kernel passes over every pixel in the input image, which results in the output image and the input image being the same size.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application of same convolution is video game post-processing — specifically, an effect called bloom, which is the glow you see around bright lights in a game.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way bloom works is the engine takes the bright spots in the frame, blurs them, and then adds that blurred glow back on top of the original frame.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That adding back step is the important part here. It only works if the blurred image lines up with the original frame pixel for pixel, which means the filtered frame has to come back exactly the same size as the input. </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That's same convolution, and it's happening 60 times a second.</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Same convolution is especially prevalent in deep networks like convolutional neural networks. With a CNN that has many convolutional layers, if every layer used valid convolution, each layer would see a smaller and smaller output image, resulting in the image eventually shrinking away to nothing.</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example, a 64 by 64 image going through 3 by 3 kernels loses 2 pixels per layer, so after about 30 layers, there'd be almost nothing left — and we couldn't even fit another kernel.</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Same convolution is what prevents this. Since every layer's output is the same size as its input, we can stack as many layers as we want.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how much padding is "just enough"? There's a simple formula for it: the padding p equals K minus 1, divided by 2. For a 3 by 3 kernel, that's 1 ring of padding, just like we saw on the previous slide. For a 5 by 5, it would be 2.</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same convolution does come with a cost. Those padded values are made up — they're not real image data. At a corner, a 3 by 3 kernel is averaging 9 cells, but only 4 of them are real pixels. So the results near the borders can be slightly off.</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that raises its own question — what values should we actually put in the padding? That's a whole separate topic, so we won't get into it today.</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same convolution keeps everything aligned and lets us chain as many filters as we want, for the small price of some made-up values at the border.</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what if we can't afford to lose anything at all — not even the edges? That brings us to our third and final mode: full convolution.</a:t>
            </a:r>
            <a:endParaRPr sz="1200">
              <a:solidFill>
                <a:schemeClr val="dk1"/>
              </a:solidFill>
              <a:latin typeface="Calibri"/>
              <a:ea typeface="Calibri"/>
              <a:cs typeface="Calibri"/>
              <a:sym typeface="Calibri"/>
            </a:endParaRPr>
          </a:p>
          <a:p>
            <a:pPr indent="0" lvl="0" marL="457200" rtl="0" algn="l">
              <a:lnSpc>
                <a:spcPct val="100000"/>
              </a:lnSpc>
              <a:spcBef>
                <a:spcPts val="0"/>
              </a:spcBef>
              <a:spcAft>
                <a:spcPts val="0"/>
              </a:spcAft>
              <a:buNone/>
            </a:pPr>
            <a:r>
              <a:t/>
            </a:r>
            <a:endParaRPr sz="1200">
              <a:solidFill>
                <a:schemeClr val="dk1"/>
              </a:solidFill>
              <a:latin typeface="Calibri"/>
              <a:ea typeface="Calibri"/>
              <a:cs typeface="Calibri"/>
              <a:sym typeface="Calibri"/>
            </a:endParaRPr>
          </a:p>
        </p:txBody>
      </p:sp>
      <p:sp>
        <p:nvSpPr>
          <p:cNvPr id="381" name="Google Shape;381;g3f52a85b759_4_3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52a85b759_4_36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g3f52a85b759_4_3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full convolution, we basically go in the opposite direction of valid convolution. We pad the image with K minus 1 pixels on each side, so that we do the convolution at every position where the kernel overlaps the image at all, even if it's only overlapping by a single pixel. The consequence of this is that the output image is actually larger than the input image, with a size of N plus K minus 1.</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why would we ever want the output image to be larger than the input?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great example of this is object tracking at the edge of the frame. Say we're tracking a pedestrian on a security camera and they start walking out of the frame. If we were doing valid convolution, we would never even look at those positions, so we might lose them entirely. But with full convolution, even one pixel of overlap counts, so we still get a match score while they're only partially in the frame.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remember problem 2 from earlier, where we were biasing against the edges? Full convolution actually fixes this completely. Every single pixel gets used exactly K squared times, so no pixel is biased against.</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Of course, full convolution has its own downsides. The output grows by K minus 1 every single pass, so if we're chaining filters, the sizes keep drifting. And the outer band of the output is computed mostly from padding, so it fades out toward the edges.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Broadly speaking, full convolution could be effective for any application where (1) we want to track or detect objects that are only partly inside the frame as in this security camera example, (2) we want to keep the filter's complete response i.e. no information lost, or (3) we want to build bigger kernels out of smaller ones, which is also how effects like Photoshop glows work.</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now we've seen all three modes. Let's put them side by side on the same image and actually compare them.</a:t>
            </a:r>
            <a:endParaRPr sz="1200">
              <a:solidFill>
                <a:schemeClr val="dk1"/>
              </a:solidFill>
              <a:latin typeface="Calibri"/>
              <a:ea typeface="Calibri"/>
              <a:cs typeface="Calibri"/>
              <a:sym typeface="Calibri"/>
            </a:endParaRPr>
          </a:p>
        </p:txBody>
      </p:sp>
      <p:sp>
        <p:nvSpPr>
          <p:cNvPr id="422" name="Google Shape;422;g3f52a85b759_4_36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52a85b759_4_40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3f52a85b759_4_4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Here we're using the same greyscale image of the old Waymo and the same kernel, a 21 by 21 Sobel-style edge detector with zero padding. The only thing we're changing between the three outputs is the convolution mode.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First, let's look at the sizes. As we know, valid convolution shrinks the output, down to 88 by 180 after 1 pass. Same convolution keeps it unchanged at 108 by 200. And full convolution grows it to 128 by 220.</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we look closely at the full convolution output, you can see a bright rectangle around the border. This rectangle is not actually in the scene. It's a phantom edge. What's happening is the edge detector is finding the boundary where the real image meets the padding, since going from real pixel values to zeros looks like a huge edge to an edge detector.</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is what we mean when we say made-up pixels. Valid convolution never invents any pixels. Same convolution has some faint fake edges at the rim. And full convolution gives us this entire phantom frame.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terms of border usage, valid convolution biases against the edges like we saw in problem 2, where the corner pixels only get used once but the center pixels get used K squared times. Full convolution is actually the only mode that treats every single pixel equally.</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in terms of alignment, only same convolution lines up pixel for pixel with the input, which matters whenever we want to overlay our results back onto the original image.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last thing to note is that if this were a color image, nothing would change. These modes only care about the spatial dimensions, so each color channel just gets the exact same treatment.</a:t>
            </a:r>
            <a:endParaRPr sz="1200">
              <a:solidFill>
                <a:schemeClr val="dk1"/>
              </a:solidFill>
              <a:latin typeface="Calibri"/>
              <a:ea typeface="Calibri"/>
              <a:cs typeface="Calibri"/>
              <a:sym typeface="Calibri"/>
            </a:endParaRPr>
          </a:p>
        </p:txBody>
      </p:sp>
      <p:sp>
        <p:nvSpPr>
          <p:cNvPr id="461" name="Google Shape;461;g3f52a85b759_4_4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52a85b759_4_47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g3f52a85b759_4_4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now that we've seen all three modes, the natural question is, how do we actually decide which one to use?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way to think about it is to ask what actually matters for our output and our pipeline. Do we care about edge information? Do we need consistent dimensions? Does processing speed matter?</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can boil this down to three questions, and we ask them in order — the first yes wins.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Question 1: does the output need to be the same size as the input? If yes, we use same convolution. This is the case whenever we're overlaying results back onto the image, chaining filters, or stacking layers in a CNN.</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Question 2: do we need our outputs to come from real data only, with no made-up values? If yes, we use valid convolution. This is the case when our outputs are measurements, like the template matching and autofocus examples from earlier.</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Question 3: does every single pixel matter, even the ones at the very edge of the frame? If yes, we use full convolution, like in our security camera tracking example.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if there's no strong yes to any of these three questions, we just use same convolution. It's the typical default for a reason.</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table at the bottom is basically a reference card for everything we've covered — the padding amounts, the output sizes, and the typical uses for each mode. Notice that the examples we walked through all show up here in their own rows.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the way I'd summarize this slide is: choosing a mode is really just choosing what we're willing to give up. Valid gives up the edges, same gives up some correctness at the borders, and full gives up the consistent size.</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531" name="Google Shape;531;g3f52a85b759_4_47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f52a85b759_4_53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g3f52a85b759_4_5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let's wrap everything up by putting the whole talk on one slide.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we've seen, the three modes really just come down to how much padding we add. Valid convolution uses no padding at all. Same convolution pads just enough, which is K minus 1 over 2. And full convolution pads all the way out, with K minus 1.</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sizes follow directly from this. Valid convolution shrinks the output to N minus K plus 1, same convolution keeps it unchanged at N, and full convolution grows it to N plus K minus 1.</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notice that these modes only decide how much padding we add, not what values we actually put in the padding. Valid convolution doesn't need any padding values at all, and for same and full, choosing what those values should be is its own separate topic.</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for the tradeoffs, which is really how we choose between them.</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Valid convolution gives us 100 percent real data, but the consequence is that the image shrinks and we bias against the edges. This makes it the safest choice when our outputs are measurements, like the template matching and autofocus examples — nothing is made up, so nothing can corrupt our scores.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Same convolution keeps everything aligned and keeps our sizes consistent, but the tradeoff is that fabricated rim of values around the border. Alignment and consistency are what most applications need, and that's why same convolution is the typical default — video games, photo filters, overlays, and CNNs.</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full convolution keeps the complete response and uses every pixel equally, K squared times each, but the tradeoff is that the output grows every pass. We use it when every single pixel matters, even the ones at the very edge, like our security camera tracking example.</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there's one takeaway from this talk, it's that choosing whether to use valid, same, or full convolution is largely application-dependent, and it's a real design and engineering decision that makes a significant impact on the downstream effectiveness of the image processing pipeline. I.e., it matters!</a:t>
            </a:r>
            <a:endParaRPr sz="1200">
              <a:solidFill>
                <a:schemeClr val="dk1"/>
              </a:solidFill>
              <a:latin typeface="Calibri"/>
              <a:ea typeface="Calibri"/>
              <a:cs typeface="Calibri"/>
              <a:sym typeface="Calibri"/>
            </a:endParaRPr>
          </a:p>
        </p:txBody>
      </p:sp>
      <p:sp>
        <p:nvSpPr>
          <p:cNvPr id="598" name="Google Shape;598;g3f52a85b759_4_5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f52a85b759_4_61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2" name="Google Shape;672;g3f52a85b759_4_6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That brings us to the end of this presentation.</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 of the references I used are here on screen, and all of the code, slides, and figures are available in my GitHub repo.</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lot of resources say seemingly conflicting things and if I had to point you towards another source, it would be the padding in CNN </a:t>
            </a:r>
            <a:r>
              <a:rPr lang="en" sz="1200">
                <a:solidFill>
                  <a:schemeClr val="dk1"/>
                </a:solidFill>
                <a:latin typeface="Calibri"/>
                <a:ea typeface="Calibri"/>
                <a:cs typeface="Calibri"/>
                <a:sym typeface="Calibri"/>
              </a:rPr>
              <a:t>explained simply, which is a video provided by the site course teach.</a:t>
            </a:r>
            <a:endParaRPr sz="1200">
              <a:solidFill>
                <a:schemeClr val="dk1"/>
              </a:solidFill>
              <a:latin typeface="Calibri"/>
              <a:ea typeface="Calibri"/>
              <a:cs typeface="Calibri"/>
              <a:sym typeface="Calibri"/>
            </a:endParaRPr>
          </a:p>
          <a:p>
            <a:pPr indent="-304800" lvl="0" marL="45720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 hope this presentation was helpful and thanks for watching!</a:t>
            </a:r>
            <a:endParaRPr sz="1200">
              <a:solidFill>
                <a:schemeClr val="dk1"/>
              </a:solidFill>
              <a:latin typeface="Calibri"/>
              <a:ea typeface="Calibri"/>
              <a:cs typeface="Calibri"/>
              <a:sym typeface="Calibri"/>
            </a:endParaRPr>
          </a:p>
        </p:txBody>
      </p:sp>
      <p:sp>
        <p:nvSpPr>
          <p:cNvPr id="673" name="Google Shape;673;g3f52a85b759_4_6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d2l.ai" TargetMode="External"/><Relationship Id="rId4" Type="http://schemas.openxmlformats.org/officeDocument/2006/relationships/hyperlink" Target="http://youtube.com/watch?v=ph4LrdntON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00" cy="5143500"/>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0"/>
            <a:ext cx="3054900" cy="6180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p:nvPr/>
        </p:nvSpPr>
        <p:spPr>
          <a:xfrm>
            <a:off x="3048005" y="0"/>
            <a:ext cx="3054900" cy="61800"/>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3" name="Google Shape;133;p25"/>
          <p:cNvSpPr/>
          <p:nvPr/>
        </p:nvSpPr>
        <p:spPr>
          <a:xfrm>
            <a:off x="6096010" y="0"/>
            <a:ext cx="3054900" cy="61800"/>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4" name="Google Shape;134;p25"/>
          <p:cNvSpPr/>
          <p:nvPr/>
        </p:nvSpPr>
        <p:spPr>
          <a:xfrm>
            <a:off x="7715456" y="445770"/>
            <a:ext cx="109800" cy="109800"/>
          </a:xfrm>
          <a:prstGeom prst="rect">
            <a:avLst/>
          </a:prstGeom>
          <a:solidFill>
            <a:srgbClr val="3987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p:nvPr/>
        </p:nvSpPr>
        <p:spPr>
          <a:xfrm>
            <a:off x="8469856" y="685800"/>
            <a:ext cx="89100" cy="89100"/>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6" name="Google Shape;136;p25"/>
          <p:cNvSpPr/>
          <p:nvPr/>
        </p:nvSpPr>
        <p:spPr>
          <a:xfrm>
            <a:off x="8058365" y="1200150"/>
            <a:ext cx="130200" cy="130200"/>
          </a:xfrm>
          <a:prstGeom prst="rect">
            <a:avLst/>
          </a:prstGeom>
          <a:solidFill>
            <a:srgbClr val="9085E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7" name="Google Shape;137;p25"/>
          <p:cNvSpPr/>
          <p:nvPr/>
        </p:nvSpPr>
        <p:spPr>
          <a:xfrm>
            <a:off x="8607019" y="1714500"/>
            <a:ext cx="96000" cy="96000"/>
          </a:xfrm>
          <a:prstGeom prst="rect">
            <a:avLst/>
          </a:prstGeom>
          <a:solidFill>
            <a:srgbClr val="3987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p:nvPr/>
        </p:nvSpPr>
        <p:spPr>
          <a:xfrm>
            <a:off x="8195528" y="2194560"/>
            <a:ext cx="82200" cy="82200"/>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9" name="Google Shape;139;p25"/>
          <p:cNvSpPr/>
          <p:nvPr/>
        </p:nvSpPr>
        <p:spPr>
          <a:xfrm>
            <a:off x="8504147" y="2640330"/>
            <a:ext cx="116700" cy="116700"/>
          </a:xfrm>
          <a:prstGeom prst="rect">
            <a:avLst/>
          </a:prstGeom>
          <a:solidFill>
            <a:srgbClr val="9085E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0" name="Google Shape;140;p25"/>
          <p:cNvSpPr/>
          <p:nvPr/>
        </p:nvSpPr>
        <p:spPr>
          <a:xfrm>
            <a:off x="377200" y="377190"/>
            <a:ext cx="96000" cy="96000"/>
          </a:xfrm>
          <a:prstGeom prst="rect">
            <a:avLst/>
          </a:prstGeom>
          <a:solidFill>
            <a:srgbClr val="1C4E8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1" name="Google Shape;141;p25"/>
          <p:cNvSpPr/>
          <p:nvPr/>
        </p:nvSpPr>
        <p:spPr>
          <a:xfrm>
            <a:off x="685818" y="651510"/>
            <a:ext cx="75300" cy="75300"/>
          </a:xfrm>
          <a:prstGeom prst="rect">
            <a:avLst/>
          </a:prstGeom>
          <a:solidFill>
            <a:srgbClr val="3987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2" name="Google Shape;142;p25"/>
          <p:cNvSpPr/>
          <p:nvPr/>
        </p:nvSpPr>
        <p:spPr>
          <a:xfrm>
            <a:off x="480073" y="2263140"/>
            <a:ext cx="89100" cy="89100"/>
          </a:xfrm>
          <a:prstGeom prst="rect">
            <a:avLst/>
          </a:prstGeom>
          <a:solidFill>
            <a:srgbClr val="1C4E8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3" name="Google Shape;143;p25"/>
          <p:cNvSpPr/>
          <p:nvPr/>
        </p:nvSpPr>
        <p:spPr>
          <a:xfrm>
            <a:off x="7338256" y="240030"/>
            <a:ext cx="75300" cy="75300"/>
          </a:xfrm>
          <a:prstGeom prst="rect">
            <a:avLst/>
          </a:prstGeom>
          <a:solidFill>
            <a:srgbClr val="1C4E8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4" name="Google Shape;144;p25"/>
          <p:cNvSpPr/>
          <p:nvPr/>
        </p:nvSpPr>
        <p:spPr>
          <a:xfrm>
            <a:off x="836698" y="685800"/>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5" name="Google Shape;145;p25"/>
          <p:cNvSpPr/>
          <p:nvPr/>
        </p:nvSpPr>
        <p:spPr>
          <a:xfrm>
            <a:off x="925855" y="685800"/>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6" name="Google Shape;146;p25"/>
          <p:cNvSpPr/>
          <p:nvPr/>
        </p:nvSpPr>
        <p:spPr>
          <a:xfrm>
            <a:off x="1015011" y="685800"/>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7" name="Google Shape;147;p25"/>
          <p:cNvSpPr/>
          <p:nvPr/>
        </p:nvSpPr>
        <p:spPr>
          <a:xfrm>
            <a:off x="836698" y="774953"/>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8" name="Google Shape;148;p25"/>
          <p:cNvSpPr/>
          <p:nvPr/>
        </p:nvSpPr>
        <p:spPr>
          <a:xfrm>
            <a:off x="925855" y="774953"/>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9" name="Google Shape;149;p25"/>
          <p:cNvSpPr/>
          <p:nvPr/>
        </p:nvSpPr>
        <p:spPr>
          <a:xfrm>
            <a:off x="1015011" y="774953"/>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0" name="Google Shape;150;p25"/>
          <p:cNvSpPr/>
          <p:nvPr/>
        </p:nvSpPr>
        <p:spPr>
          <a:xfrm>
            <a:off x="836698" y="864108"/>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1" name="Google Shape;151;p25"/>
          <p:cNvSpPr/>
          <p:nvPr/>
        </p:nvSpPr>
        <p:spPr>
          <a:xfrm>
            <a:off x="925855" y="864108"/>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2" name="Google Shape;152;p25"/>
          <p:cNvSpPr/>
          <p:nvPr/>
        </p:nvSpPr>
        <p:spPr>
          <a:xfrm>
            <a:off x="1015011" y="864108"/>
            <a:ext cx="68700" cy="687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3" name="Google Shape;153;p25"/>
          <p:cNvSpPr txBox="1"/>
          <p:nvPr/>
        </p:nvSpPr>
        <p:spPr>
          <a:xfrm>
            <a:off x="822982" y="1028700"/>
            <a:ext cx="74754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3300"/>
              <a:buFont typeface="Arial"/>
              <a:buNone/>
            </a:pPr>
            <a:r>
              <a:rPr b="1" i="0" lang="en" sz="3300" u="none" cap="none" strike="noStrike">
                <a:solidFill>
                  <a:srgbClr val="FFFFFF"/>
                </a:solidFill>
                <a:latin typeface="Calibri"/>
                <a:ea typeface="Calibri"/>
                <a:cs typeface="Calibri"/>
                <a:sym typeface="Calibri"/>
              </a:rPr>
              <a:t>Convolution at the Edge</a:t>
            </a:r>
            <a:endParaRPr b="0" i="0" sz="1100" u="none" cap="none" strike="noStrike">
              <a:solidFill>
                <a:srgbClr val="000000"/>
              </a:solidFill>
              <a:latin typeface="Calibri"/>
              <a:ea typeface="Calibri"/>
              <a:cs typeface="Calibri"/>
              <a:sym typeface="Calibri"/>
            </a:endParaRPr>
          </a:p>
        </p:txBody>
      </p:sp>
      <p:sp>
        <p:nvSpPr>
          <p:cNvPr id="154" name="Google Shape;154;p25"/>
          <p:cNvSpPr txBox="1"/>
          <p:nvPr/>
        </p:nvSpPr>
        <p:spPr>
          <a:xfrm>
            <a:off x="905282" y="1537368"/>
            <a:ext cx="74754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800"/>
              <a:buFont typeface="Arial"/>
              <a:buNone/>
            </a:pPr>
            <a:r>
              <a:rPr b="0" i="0" lang="en" sz="1800" u="none" cap="none" strike="noStrike">
                <a:solidFill>
                  <a:schemeClr val="lt1"/>
                </a:solidFill>
                <a:latin typeface="Calibri"/>
                <a:ea typeface="Calibri"/>
                <a:cs typeface="Calibri"/>
                <a:sym typeface="Calibri"/>
              </a:rPr>
              <a:t>Valid, Same &amp; Full Convolution</a:t>
            </a:r>
            <a:endParaRPr b="0" i="0" sz="1100" u="none" cap="none" strike="noStrike">
              <a:solidFill>
                <a:schemeClr val="lt1"/>
              </a:solidFill>
              <a:latin typeface="Calibri"/>
              <a:ea typeface="Calibri"/>
              <a:cs typeface="Calibri"/>
              <a:sym typeface="Calibri"/>
            </a:endParaRPr>
          </a:p>
        </p:txBody>
      </p:sp>
      <p:sp>
        <p:nvSpPr>
          <p:cNvPr id="155" name="Google Shape;155;p25"/>
          <p:cNvSpPr txBox="1"/>
          <p:nvPr/>
        </p:nvSpPr>
        <p:spPr>
          <a:xfrm>
            <a:off x="925844" y="1895985"/>
            <a:ext cx="74754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0" i="0" lang="en" sz="1100" u="none" cap="none" strike="noStrike">
                <a:solidFill>
                  <a:srgbClr val="9FB4CE"/>
                </a:solidFill>
                <a:latin typeface="Calibri"/>
                <a:ea typeface="Calibri"/>
                <a:cs typeface="Calibri"/>
                <a:sym typeface="Calibri"/>
              </a:rPr>
              <a:t>Wade Williams  ·  CS 5330 Computer Vision</a:t>
            </a:r>
            <a:endParaRPr b="0" i="0" sz="1100" u="none" cap="none" strike="noStrike">
              <a:solidFill>
                <a:srgbClr val="000000"/>
              </a:solidFill>
              <a:latin typeface="Arial"/>
              <a:ea typeface="Arial"/>
              <a:cs typeface="Arial"/>
              <a:sym typeface="Arial"/>
            </a:endParaRPr>
          </a:p>
        </p:txBody>
      </p:sp>
      <p:sp>
        <p:nvSpPr>
          <p:cNvPr id="156" name="Google Shape;156;p25"/>
          <p:cNvSpPr/>
          <p:nvPr/>
        </p:nvSpPr>
        <p:spPr>
          <a:xfrm>
            <a:off x="803382" y="2448301"/>
            <a:ext cx="7544100" cy="1618500"/>
          </a:xfrm>
          <a:prstGeom prst="roundRect">
            <a:avLst>
              <a:gd fmla="val 16667"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dial.png" id="157" name="Google Shape;157;p25"/>
          <p:cNvPicPr preferRelativeResize="0"/>
          <p:nvPr/>
        </p:nvPicPr>
        <p:blipFill rotWithShape="1">
          <a:blip r:embed="rId3">
            <a:alphaModFix/>
          </a:blip>
          <a:srcRect b="0" l="0" r="0" t="0"/>
          <a:stretch/>
        </p:blipFill>
        <p:spPr>
          <a:xfrm>
            <a:off x="1740455" y="2530597"/>
            <a:ext cx="5640457" cy="14538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p:nvPr/>
        </p:nvSpPr>
        <p:spPr>
          <a:xfrm>
            <a:off x="0" y="0"/>
            <a:ext cx="9144015"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4" name="Google Shape;164;p26"/>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5" name="Google Shape;165;p26"/>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6" name="Google Shape;166;p26"/>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7" name="Google Shape;167;p26"/>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8" name="Google Shape;168;p26"/>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9" name="Google Shape;169;p26"/>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0" name="Google Shape;170;p26"/>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1" name="Google Shape;171;p26"/>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2" name="Google Shape;172;p26"/>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3" name="Google Shape;173;p26"/>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4" name="Google Shape;174;p26"/>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5" name="Google Shape;175;p26"/>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6" name="Google Shape;176;p26"/>
          <p:cNvSpPr txBox="1"/>
          <p:nvPr/>
        </p:nvSpPr>
        <p:spPr>
          <a:xfrm>
            <a:off x="377200" y="150876"/>
            <a:ext cx="54864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RECALL — CONVOLUTION &amp; A SUBTLE PROBLEM </a:t>
            </a:r>
            <a:endParaRPr b="0" i="0" sz="1100" u="none" cap="none" strike="noStrike">
              <a:solidFill>
                <a:srgbClr val="000000"/>
              </a:solidFill>
              <a:latin typeface="Arial"/>
              <a:ea typeface="Arial"/>
              <a:cs typeface="Arial"/>
              <a:sym typeface="Arial"/>
            </a:endParaRPr>
          </a:p>
        </p:txBody>
      </p:sp>
      <p:sp>
        <p:nvSpPr>
          <p:cNvPr id="177" name="Google Shape;177;p26"/>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A familiar operation – convolution! But wait…the image shrinks?</a:t>
            </a:r>
            <a:endParaRPr b="0" i="0" sz="1100" u="none" cap="none" strike="noStrike">
              <a:solidFill>
                <a:srgbClr val="000000"/>
              </a:solidFill>
              <a:latin typeface="Arial"/>
              <a:ea typeface="Arial"/>
              <a:cs typeface="Arial"/>
              <a:sym typeface="Arial"/>
            </a:endParaRPr>
          </a:p>
        </p:txBody>
      </p:sp>
      <p:sp>
        <p:nvSpPr>
          <p:cNvPr id="178" name="Google Shape;178;p26"/>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9" name="Google Shape;179;p26"/>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0" name="Google Shape;180;p26"/>
          <p:cNvSpPr/>
          <p:nvPr/>
        </p:nvSpPr>
        <p:spPr>
          <a:xfrm>
            <a:off x="377200" y="987552"/>
            <a:ext cx="8389500" cy="38400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1" name="Google Shape;181;p26"/>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2" name="Google Shape;182;p26"/>
          <p:cNvSpPr txBox="1"/>
          <p:nvPr/>
        </p:nvSpPr>
        <p:spPr>
          <a:xfrm>
            <a:off x="605878" y="1076790"/>
            <a:ext cx="7978200" cy="2385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By default, plain convolution shrinks the image!  </a:t>
            </a:r>
            <a:endParaRPr b="0" i="0" sz="1100" u="none" cap="none" strike="noStrike">
              <a:solidFill>
                <a:srgbClr val="000000"/>
              </a:solidFill>
              <a:latin typeface="Arial"/>
              <a:ea typeface="Arial"/>
              <a:cs typeface="Arial"/>
              <a:sym typeface="Arial"/>
            </a:endParaRPr>
          </a:p>
        </p:txBody>
      </p:sp>
      <p:sp>
        <p:nvSpPr>
          <p:cNvPr id="183" name="Google Shape;183;p26"/>
          <p:cNvSpPr/>
          <p:nvPr/>
        </p:nvSpPr>
        <p:spPr>
          <a:xfrm>
            <a:off x="377200" y="1495044"/>
            <a:ext cx="3086182" cy="147447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grid_running_example.png" id="184" name="Google Shape;184;p26"/>
          <p:cNvPicPr preferRelativeResize="0"/>
          <p:nvPr/>
        </p:nvPicPr>
        <p:blipFill rotWithShape="1">
          <a:blip r:embed="rId3">
            <a:alphaModFix/>
          </a:blip>
          <a:srcRect b="0" l="0" r="0" t="0"/>
          <a:stretch/>
        </p:blipFill>
        <p:spPr>
          <a:xfrm>
            <a:off x="872086" y="1591056"/>
            <a:ext cx="2096352" cy="1282446"/>
          </a:xfrm>
          <a:prstGeom prst="rect">
            <a:avLst/>
          </a:prstGeom>
          <a:noFill/>
          <a:ln>
            <a:noFill/>
          </a:ln>
        </p:spPr>
      </p:pic>
      <p:sp>
        <p:nvSpPr>
          <p:cNvPr id="185" name="Google Shape;185;p26"/>
          <p:cNvSpPr/>
          <p:nvPr/>
        </p:nvSpPr>
        <p:spPr>
          <a:xfrm>
            <a:off x="3566255" y="1495044"/>
            <a:ext cx="2057455" cy="147447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grid_boundary_question.png" id="186" name="Google Shape;186;p26"/>
          <p:cNvPicPr preferRelativeResize="0"/>
          <p:nvPr/>
        </p:nvPicPr>
        <p:blipFill rotWithShape="1">
          <a:blip r:embed="rId4">
            <a:alphaModFix/>
          </a:blip>
          <a:srcRect b="0" l="0" r="0" t="0"/>
          <a:stretch/>
        </p:blipFill>
        <p:spPr>
          <a:xfrm>
            <a:off x="3984943" y="1591056"/>
            <a:ext cx="1220045" cy="1282446"/>
          </a:xfrm>
          <a:prstGeom prst="rect">
            <a:avLst/>
          </a:prstGeom>
          <a:noFill/>
          <a:ln>
            <a:noFill/>
          </a:ln>
        </p:spPr>
      </p:pic>
      <p:sp>
        <p:nvSpPr>
          <p:cNvPr id="187" name="Google Shape;187;p26"/>
          <p:cNvSpPr txBox="1"/>
          <p:nvPr/>
        </p:nvSpPr>
        <p:spPr>
          <a:xfrm>
            <a:off x="5795164" y="1563623"/>
            <a:ext cx="2949000" cy="13440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  Convolution:</a:t>
            </a:r>
            <a:endParaRPr b="1" i="0" sz="900" u="none" cap="none" strike="noStrike">
              <a:solidFill>
                <a:srgbClr val="0D366B"/>
              </a:solidFill>
              <a:latin typeface="Calibri"/>
              <a:ea typeface="Calibri"/>
              <a:cs typeface="Calibri"/>
              <a:sym typeface="Calibri"/>
            </a:endParaRPr>
          </a:p>
          <a:p>
            <a:pPr indent="-285750" lvl="0" marL="457200" marR="0" rtl="0" algn="l">
              <a:lnSpc>
                <a:spcPct val="112000"/>
              </a:lnSpc>
              <a:spcBef>
                <a:spcPts val="0"/>
              </a:spcBef>
              <a:spcAft>
                <a:spcPts val="0"/>
              </a:spcAft>
              <a:buClr>
                <a:srgbClr val="0B0B0B"/>
              </a:buClr>
              <a:buSzPts val="900"/>
              <a:buFont typeface="Calibri"/>
              <a:buAutoNum type="arabicPeriod"/>
            </a:pPr>
            <a:r>
              <a:rPr lang="en" sz="900">
                <a:solidFill>
                  <a:srgbClr val="0B0B0B"/>
                </a:solidFill>
                <a:latin typeface="Calibri"/>
                <a:ea typeface="Calibri"/>
                <a:cs typeface="Calibri"/>
                <a:sym typeface="Calibri"/>
              </a:rPr>
              <a:t>Flip the kernel &amp; s</a:t>
            </a:r>
            <a:r>
              <a:rPr b="0" i="0" lang="en" sz="900" u="none" cap="none" strike="noStrike">
                <a:solidFill>
                  <a:srgbClr val="0B0B0B"/>
                </a:solidFill>
                <a:latin typeface="Calibri"/>
                <a:ea typeface="Calibri"/>
                <a:cs typeface="Calibri"/>
                <a:sym typeface="Calibri"/>
              </a:rPr>
              <a:t>lide the kernel over the image </a:t>
            </a:r>
            <a:endParaRPr b="0" i="0" sz="900" u="none" cap="none" strike="noStrike">
              <a:solidFill>
                <a:srgbClr val="0B0B0B"/>
              </a:solidFill>
              <a:latin typeface="Calibri"/>
              <a:ea typeface="Calibri"/>
              <a:cs typeface="Calibri"/>
              <a:sym typeface="Calibri"/>
            </a:endParaRPr>
          </a:p>
          <a:p>
            <a:pPr indent="-285750" lvl="0" marL="457200" marR="0" rtl="0" algn="l">
              <a:lnSpc>
                <a:spcPct val="112000"/>
              </a:lnSpc>
              <a:spcBef>
                <a:spcPts val="0"/>
              </a:spcBef>
              <a:spcAft>
                <a:spcPts val="0"/>
              </a:spcAft>
              <a:buClr>
                <a:srgbClr val="0B0B0B"/>
              </a:buClr>
              <a:buSzPts val="900"/>
              <a:buFont typeface="Calibri"/>
              <a:buAutoNum type="arabicPeriod"/>
            </a:pPr>
            <a:r>
              <a:rPr b="0" i="0" lang="en" sz="900" u="none" cap="none" strike="noStrike">
                <a:solidFill>
                  <a:srgbClr val="0B0B0B"/>
                </a:solidFill>
                <a:latin typeface="Calibri"/>
                <a:ea typeface="Calibri"/>
                <a:cs typeface="Calibri"/>
                <a:sym typeface="Calibri"/>
              </a:rPr>
              <a:t>At each pixel, compute the dot product! </a:t>
            </a:r>
            <a:endParaRPr b="0" i="0" sz="900" u="none" cap="none" strike="noStrike">
              <a:solidFill>
                <a:srgbClr val="0B0B0B"/>
              </a:solidFill>
              <a:latin typeface="Calibri"/>
              <a:ea typeface="Calibri"/>
              <a:cs typeface="Calibri"/>
              <a:sym typeface="Calibri"/>
            </a:endParaRPr>
          </a:p>
          <a:p>
            <a:pPr indent="-285750" lvl="0" marL="457200" marR="0" rtl="0" algn="l">
              <a:lnSpc>
                <a:spcPct val="112000"/>
              </a:lnSpc>
              <a:spcBef>
                <a:spcPts val="0"/>
              </a:spcBef>
              <a:spcAft>
                <a:spcPts val="0"/>
              </a:spcAft>
              <a:buClr>
                <a:srgbClr val="0B0B0B"/>
              </a:buClr>
              <a:buSzPts val="900"/>
              <a:buFont typeface="Calibri"/>
              <a:buAutoNum type="arabicPeriod"/>
            </a:pPr>
            <a:r>
              <a:rPr b="0" i="0" lang="en" sz="900" u="none" cap="none" strike="noStrike">
                <a:solidFill>
                  <a:srgbClr val="0B0B0B"/>
                </a:solidFill>
                <a:latin typeface="Calibri"/>
                <a:ea typeface="Calibri"/>
                <a:cs typeface="Calibri"/>
                <a:sym typeface="Calibri"/>
              </a:rPr>
              <a:t>Each stop makes one output pixel.</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80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  Example: </a:t>
            </a:r>
            <a:r>
              <a:rPr b="1" i="0" lang="en" sz="900" u="none" cap="none" strike="noStrike">
                <a:solidFill>
                  <a:srgbClr val="0B0B0B"/>
                </a:solidFill>
                <a:latin typeface="Calibri"/>
                <a:ea typeface="Calibri"/>
                <a:cs typeface="Calibri"/>
                <a:sym typeface="Calibri"/>
              </a:rPr>
              <a:t>6x6 pixels + 3x3 Kernel —&gt; only 4×4 came out</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80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  Problem: </a:t>
            </a:r>
            <a:r>
              <a:rPr b="0" i="0" lang="en" sz="900" u="none" cap="none" strike="noStrike">
                <a:solidFill>
                  <a:srgbClr val="0B0B0B"/>
                </a:solidFill>
                <a:latin typeface="Calibri"/>
                <a:ea typeface="Calibri"/>
                <a:cs typeface="Calibri"/>
                <a:sym typeface="Calibri"/>
              </a:rPr>
              <a:t>At the edges, the kernel hangs off the image —  	    what multiplies the missing cells?</a:t>
            </a:r>
            <a:endParaRPr b="0" i="0" sz="1100" u="none" cap="none" strike="noStrike">
              <a:solidFill>
                <a:srgbClr val="000000"/>
              </a:solidFill>
              <a:latin typeface="Arial"/>
              <a:ea typeface="Arial"/>
              <a:cs typeface="Arial"/>
              <a:sym typeface="Arial"/>
            </a:endParaRPr>
          </a:p>
        </p:txBody>
      </p:sp>
      <p:sp>
        <p:nvSpPr>
          <p:cNvPr id="188" name="Google Shape;188;p26"/>
          <p:cNvSpPr/>
          <p:nvPr/>
        </p:nvSpPr>
        <p:spPr>
          <a:xfrm>
            <a:off x="377200" y="3086100"/>
            <a:ext cx="5486546" cy="168021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conv_real_example.png" id="189" name="Google Shape;189;p26"/>
          <p:cNvPicPr preferRelativeResize="0"/>
          <p:nvPr/>
        </p:nvPicPr>
        <p:blipFill rotWithShape="1">
          <a:blip r:embed="rId5">
            <a:alphaModFix/>
          </a:blip>
          <a:srcRect b="0" l="0" r="0" t="0"/>
          <a:stretch/>
        </p:blipFill>
        <p:spPr>
          <a:xfrm>
            <a:off x="1049685" y="3182112"/>
            <a:ext cx="4141465" cy="1488186"/>
          </a:xfrm>
          <a:prstGeom prst="rect">
            <a:avLst/>
          </a:prstGeom>
          <a:noFill/>
          <a:ln>
            <a:noFill/>
          </a:ln>
        </p:spPr>
      </p:pic>
      <p:sp>
        <p:nvSpPr>
          <p:cNvPr id="190" name="Google Shape;190;p26"/>
          <p:cNvSpPr txBox="1"/>
          <p:nvPr/>
        </p:nvSpPr>
        <p:spPr>
          <a:xfrm>
            <a:off x="6069492" y="3236976"/>
            <a:ext cx="2674800" cy="9456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rgbClr val="000000"/>
              </a:buClr>
              <a:buSzPts val="1000"/>
              <a:buFont typeface="Arial"/>
              <a:buNone/>
            </a:pPr>
            <a:r>
              <a:rPr b="1" i="0" lang="en" sz="1000" u="none" cap="none" strike="noStrike">
                <a:solidFill>
                  <a:srgbClr val="0D366B"/>
                </a:solidFill>
                <a:latin typeface="Calibri"/>
                <a:ea typeface="Calibri"/>
                <a:cs typeface="Calibri"/>
                <a:sym typeface="Calibri"/>
              </a:rPr>
              <a:t>▸  Real </a:t>
            </a:r>
            <a:r>
              <a:rPr b="1" i="0" lang="en" sz="900" u="none" cap="none" strike="noStrike">
                <a:solidFill>
                  <a:srgbClr val="0D366B"/>
                </a:solidFill>
                <a:latin typeface="Calibri"/>
                <a:ea typeface="Calibri"/>
                <a:cs typeface="Calibri"/>
                <a:sym typeface="Calibri"/>
              </a:rPr>
              <a:t>Example: </a:t>
            </a:r>
            <a:r>
              <a:rPr b="0" i="0" lang="en" sz="1000" u="none" cap="none" strike="noStrike">
                <a:solidFill>
                  <a:srgbClr val="0B0B0B"/>
                </a:solidFill>
                <a:latin typeface="Calibri"/>
                <a:ea typeface="Calibri"/>
                <a:cs typeface="Calibri"/>
                <a:sym typeface="Calibri"/>
              </a:rPr>
              <a:t>The same operation on a real photo – a 3x3 Gaussian blur filter.</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800"/>
              </a:spcBef>
              <a:spcAft>
                <a:spcPts val="0"/>
              </a:spcAft>
              <a:buClr>
                <a:srgbClr val="000000"/>
              </a:buClr>
              <a:buSzPts val="1000"/>
              <a:buFont typeface="Arial"/>
              <a:buNone/>
            </a:pPr>
            <a:r>
              <a:rPr b="1" i="0" lang="en" sz="1000" u="none" cap="none" strike="noStrike">
                <a:solidFill>
                  <a:srgbClr val="0D366B"/>
                </a:solidFill>
                <a:latin typeface="Calibri"/>
                <a:ea typeface="Calibri"/>
                <a:cs typeface="Calibri"/>
                <a:sym typeface="Calibri"/>
              </a:rPr>
              <a:t>▸  </a:t>
            </a:r>
            <a:r>
              <a:rPr b="0" i="0" lang="en" sz="1000" u="none" cap="none" strike="noStrike">
                <a:solidFill>
                  <a:srgbClr val="0B0B0B"/>
                </a:solidFill>
                <a:latin typeface="Calibri"/>
                <a:ea typeface="Calibri"/>
                <a:cs typeface="Calibri"/>
                <a:sym typeface="Calibri"/>
              </a:rPr>
              <a:t>Puppy in: 128x128 · puppy out: 126x126</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800"/>
              </a:spcBef>
              <a:spcAft>
                <a:spcPts val="0"/>
              </a:spcAft>
              <a:buClr>
                <a:srgbClr val="000000"/>
              </a:buClr>
              <a:buSzPts val="1000"/>
              <a:buFont typeface="Arial"/>
              <a:buNone/>
            </a:pPr>
            <a:r>
              <a:rPr b="1" i="0" lang="en" sz="1000" u="none" cap="none" strike="noStrike">
                <a:solidFill>
                  <a:srgbClr val="0D366B"/>
                </a:solidFill>
                <a:latin typeface="Calibri"/>
                <a:ea typeface="Calibri"/>
                <a:cs typeface="Calibri"/>
                <a:sym typeface="Calibri"/>
              </a:rPr>
              <a:t>▸  </a:t>
            </a:r>
            <a:r>
              <a:rPr b="0" i="0" lang="en" sz="1000" u="none" cap="none" strike="noStrike">
                <a:solidFill>
                  <a:srgbClr val="0B0B0B"/>
                </a:solidFill>
                <a:latin typeface="Calibri"/>
                <a:ea typeface="Calibri"/>
                <a:cs typeface="Calibri"/>
                <a:sym typeface="Calibri"/>
              </a:rPr>
              <a:t>We lose 2 pixels!</a:t>
            </a:r>
            <a:endParaRPr b="0" i="0" sz="1100" u="none" cap="none" strike="noStrike">
              <a:solidFill>
                <a:srgbClr val="000000"/>
              </a:solidFill>
              <a:latin typeface="Arial"/>
              <a:ea typeface="Arial"/>
              <a:cs typeface="Arial"/>
              <a:sym typeface="Arial"/>
            </a:endParaRPr>
          </a:p>
        </p:txBody>
      </p:sp>
      <p:sp>
        <p:nvSpPr>
          <p:cNvPr id="191" name="Google Shape;191;p26"/>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2" name="Google Shape;192;p26"/>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3" name="Google Shape;193;p26"/>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4" name="Google Shape;194;p26"/>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195" name="Google Shape;195;p26"/>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2 / 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p:nvPr/>
        </p:nvSpPr>
        <p:spPr>
          <a:xfrm>
            <a:off x="0" y="0"/>
            <a:ext cx="9144015" cy="5143500"/>
          </a:xfrm>
          <a:prstGeom prst="rect">
            <a:avLst/>
          </a:prstGeom>
          <a:solidFill>
            <a:srgbClr val="FEF6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2" name="Google Shape;202;p27"/>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3" name="Google Shape;203;p27"/>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4" name="Google Shape;204;p27"/>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5" name="Google Shape;205;p27"/>
          <p:cNvSpPr/>
          <p:nvPr/>
        </p:nvSpPr>
        <p:spPr>
          <a:xfrm>
            <a:off x="8394416"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6" name="Google Shape;206;p27"/>
          <p:cNvSpPr/>
          <p:nvPr/>
        </p:nvSpPr>
        <p:spPr>
          <a:xfrm>
            <a:off x="8497289"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7" name="Google Shape;207;p27"/>
          <p:cNvSpPr/>
          <p:nvPr/>
        </p:nvSpPr>
        <p:spPr>
          <a:xfrm>
            <a:off x="8600161"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8" name="Google Shape;208;p27"/>
          <p:cNvSpPr/>
          <p:nvPr/>
        </p:nvSpPr>
        <p:spPr>
          <a:xfrm>
            <a:off x="8394416" y="308609"/>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9" name="Google Shape;209;p27"/>
          <p:cNvSpPr/>
          <p:nvPr/>
        </p:nvSpPr>
        <p:spPr>
          <a:xfrm>
            <a:off x="8497289" y="308609"/>
            <a:ext cx="78869" cy="78867"/>
          </a:xfrm>
          <a:prstGeom prst="rect">
            <a:avLst/>
          </a:prstGeom>
          <a:solidFill>
            <a:srgbClr val="E349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0" name="Google Shape;210;p27"/>
          <p:cNvSpPr/>
          <p:nvPr/>
        </p:nvSpPr>
        <p:spPr>
          <a:xfrm>
            <a:off x="8600161" y="308609"/>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1" name="Google Shape;211;p27"/>
          <p:cNvSpPr/>
          <p:nvPr/>
        </p:nvSpPr>
        <p:spPr>
          <a:xfrm>
            <a:off x="8394416"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2" name="Google Shape;212;p27"/>
          <p:cNvSpPr/>
          <p:nvPr/>
        </p:nvSpPr>
        <p:spPr>
          <a:xfrm>
            <a:off x="8497289"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3" name="Google Shape;213;p27"/>
          <p:cNvSpPr/>
          <p:nvPr/>
        </p:nvSpPr>
        <p:spPr>
          <a:xfrm>
            <a:off x="8600161"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4" name="Google Shape;214;p27"/>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E34948"/>
                </a:solidFill>
                <a:latin typeface="Calibri"/>
                <a:ea typeface="Calibri"/>
                <a:cs typeface="Calibri"/>
                <a:sym typeface="Calibri"/>
              </a:rPr>
              <a:t>PROBLEM 1 OF 2</a:t>
            </a:r>
            <a:endParaRPr b="0" i="0" sz="1100" u="none" cap="none" strike="noStrike">
              <a:solidFill>
                <a:srgbClr val="000000"/>
              </a:solidFill>
              <a:latin typeface="Arial"/>
              <a:ea typeface="Arial"/>
              <a:cs typeface="Arial"/>
              <a:sym typeface="Arial"/>
            </a:endParaRPr>
          </a:p>
        </p:txBody>
      </p:sp>
      <p:sp>
        <p:nvSpPr>
          <p:cNvPr id="215" name="Google Shape;215;p27"/>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Problem 1 – The image shrinks!</a:t>
            </a:r>
            <a:endParaRPr b="0" i="0" sz="1100" u="none" cap="none" strike="noStrike">
              <a:solidFill>
                <a:srgbClr val="000000"/>
              </a:solidFill>
              <a:latin typeface="Arial"/>
              <a:ea typeface="Arial"/>
              <a:cs typeface="Arial"/>
              <a:sym typeface="Arial"/>
            </a:endParaRPr>
          </a:p>
        </p:txBody>
      </p:sp>
      <p:sp>
        <p:nvSpPr>
          <p:cNvPr id="216" name="Google Shape;216;p27"/>
          <p:cNvSpPr/>
          <p:nvPr/>
        </p:nvSpPr>
        <p:spPr>
          <a:xfrm>
            <a:off x="377200" y="877824"/>
            <a:ext cx="754400" cy="24003"/>
          </a:xfrm>
          <a:prstGeom prst="rect">
            <a:avLst/>
          </a:prstGeom>
          <a:solidFill>
            <a:srgbClr val="E349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7" name="Google Shape;217;p27"/>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8" name="Google Shape;218;p27"/>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9" name="Google Shape;219;p27"/>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0" name="Google Shape;220;p27"/>
          <p:cNvSpPr txBox="1"/>
          <p:nvPr/>
        </p:nvSpPr>
        <p:spPr>
          <a:xfrm>
            <a:off x="514378" y="1067140"/>
            <a:ext cx="7978200" cy="2385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When convolution is applied without padding, it leads to loss in spatial information and a smaller output image.</a:t>
            </a:r>
            <a:endParaRPr b="0" i="0" sz="1100" u="none" cap="none" strike="noStrike">
              <a:solidFill>
                <a:srgbClr val="000000"/>
              </a:solidFill>
              <a:latin typeface="Arial"/>
              <a:ea typeface="Arial"/>
              <a:cs typeface="Arial"/>
              <a:sym typeface="Arial"/>
            </a:endParaRPr>
          </a:p>
        </p:txBody>
      </p:sp>
      <p:sp>
        <p:nvSpPr>
          <p:cNvPr id="221" name="Google Shape;221;p27"/>
          <p:cNvSpPr/>
          <p:nvPr/>
        </p:nvSpPr>
        <p:spPr>
          <a:xfrm>
            <a:off x="308618" y="1577340"/>
            <a:ext cx="3943455" cy="318897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grey_input.png" id="222" name="Google Shape;222;p27"/>
          <p:cNvPicPr preferRelativeResize="0"/>
          <p:nvPr/>
        </p:nvPicPr>
        <p:blipFill rotWithShape="1">
          <a:blip r:embed="rId3">
            <a:alphaModFix/>
          </a:blip>
          <a:srcRect b="0" l="0" r="0" t="0"/>
          <a:stretch/>
        </p:blipFill>
        <p:spPr>
          <a:xfrm>
            <a:off x="977296" y="1640978"/>
            <a:ext cx="2606040" cy="1407261"/>
          </a:xfrm>
          <a:prstGeom prst="rect">
            <a:avLst/>
          </a:prstGeom>
          <a:noFill/>
          <a:ln>
            <a:noFill/>
          </a:ln>
        </p:spPr>
      </p:pic>
      <p:sp>
        <p:nvSpPr>
          <p:cNvPr id="223" name="Google Shape;223;p27"/>
          <p:cNvSpPr txBox="1"/>
          <p:nvPr/>
        </p:nvSpPr>
        <p:spPr>
          <a:xfrm>
            <a:off x="977296" y="3061955"/>
            <a:ext cx="26061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800"/>
              <a:buFont typeface="Arial"/>
              <a:buNone/>
            </a:pPr>
            <a:r>
              <a:rPr b="0" i="0" lang="en" sz="800" u="none" cap="none" strike="noStrike">
                <a:solidFill>
                  <a:srgbClr val="898781"/>
                </a:solidFill>
                <a:latin typeface="Calibri"/>
                <a:ea typeface="Calibri"/>
                <a:cs typeface="Calibri"/>
                <a:sym typeface="Calibri"/>
              </a:rPr>
              <a:t>input:  108 × 200 </a:t>
            </a:r>
            <a:endParaRPr b="0" i="0" sz="1100" u="none" cap="none" strike="noStrike">
              <a:solidFill>
                <a:srgbClr val="000000"/>
              </a:solidFill>
              <a:latin typeface="Arial"/>
              <a:ea typeface="Arial"/>
              <a:cs typeface="Arial"/>
              <a:sym typeface="Arial"/>
            </a:endParaRPr>
          </a:p>
        </p:txBody>
      </p:sp>
      <p:pic>
        <p:nvPicPr>
          <p:cNvPr descr="grey_valid.png" id="224" name="Google Shape;224;p27"/>
          <p:cNvPicPr preferRelativeResize="0"/>
          <p:nvPr/>
        </p:nvPicPr>
        <p:blipFill rotWithShape="1">
          <a:blip r:embed="rId4">
            <a:alphaModFix/>
          </a:blip>
          <a:srcRect b="0" l="0" r="0" t="0"/>
          <a:stretch/>
        </p:blipFill>
        <p:spPr>
          <a:xfrm>
            <a:off x="1107633" y="3317616"/>
            <a:ext cx="2345436" cy="1146657"/>
          </a:xfrm>
          <a:prstGeom prst="rect">
            <a:avLst/>
          </a:prstGeom>
          <a:noFill/>
          <a:ln>
            <a:noFill/>
          </a:ln>
        </p:spPr>
      </p:pic>
      <p:sp>
        <p:nvSpPr>
          <p:cNvPr id="225" name="Google Shape;225;p27"/>
          <p:cNvSpPr txBox="1"/>
          <p:nvPr/>
        </p:nvSpPr>
        <p:spPr>
          <a:xfrm>
            <a:off x="1107646" y="4464264"/>
            <a:ext cx="23454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800"/>
              <a:buFont typeface="Arial"/>
              <a:buNone/>
            </a:pPr>
            <a:r>
              <a:rPr b="0" i="0" lang="en" sz="800" u="none" cap="none" strike="noStrike">
                <a:solidFill>
                  <a:srgbClr val="898781"/>
                </a:solidFill>
                <a:latin typeface="Calibri"/>
                <a:ea typeface="Calibri"/>
                <a:cs typeface="Calibri"/>
                <a:sym typeface="Calibri"/>
              </a:rPr>
              <a:t>after one 21x21 valid convolution pass:  88 x 180</a:t>
            </a:r>
            <a:endParaRPr b="0" i="0" sz="1100" u="none" cap="none" strike="noStrike">
              <a:solidFill>
                <a:srgbClr val="000000"/>
              </a:solidFill>
              <a:latin typeface="Arial"/>
              <a:ea typeface="Arial"/>
              <a:cs typeface="Arial"/>
              <a:sym typeface="Arial"/>
            </a:endParaRPr>
          </a:p>
        </p:txBody>
      </p:sp>
      <p:sp>
        <p:nvSpPr>
          <p:cNvPr id="226" name="Google Shape;226;p27"/>
          <p:cNvSpPr/>
          <p:nvPr/>
        </p:nvSpPr>
        <p:spPr>
          <a:xfrm>
            <a:off x="4492110" y="1611630"/>
            <a:ext cx="4286364" cy="754380"/>
          </a:xfrm>
          <a:prstGeom prst="roundRect">
            <a:avLst>
              <a:gd fmla="val 16667" name="adj"/>
            </a:avLst>
          </a:prstGeom>
          <a:solidFill>
            <a:srgbClr val="FBE6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7" name="Google Shape;227;p27"/>
          <p:cNvSpPr/>
          <p:nvPr/>
        </p:nvSpPr>
        <p:spPr>
          <a:xfrm>
            <a:off x="4533258" y="1673352"/>
            <a:ext cx="48007" cy="630936"/>
          </a:xfrm>
          <a:prstGeom prst="rect">
            <a:avLst/>
          </a:prstGeom>
          <a:solidFill>
            <a:srgbClr val="E349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8" name="Google Shape;228;p27"/>
          <p:cNvSpPr txBox="1"/>
          <p:nvPr/>
        </p:nvSpPr>
        <p:spPr>
          <a:xfrm>
            <a:off x="4732146" y="1693926"/>
            <a:ext cx="3977746"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0B0B0B"/>
                </a:solidFill>
                <a:latin typeface="Calibri"/>
                <a:ea typeface="Calibri"/>
                <a:cs typeface="Calibri"/>
                <a:sym typeface="Calibri"/>
              </a:rPr>
              <a:t>N = image size (per dimension)      K = kernel size</a:t>
            </a:r>
            <a:endParaRPr b="0" i="0" sz="1100" u="none" cap="none" strike="noStrike">
              <a:solidFill>
                <a:srgbClr val="000000"/>
              </a:solidFill>
              <a:latin typeface="Arial"/>
              <a:ea typeface="Arial"/>
              <a:cs typeface="Arial"/>
              <a:sym typeface="Arial"/>
            </a:endParaRPr>
          </a:p>
        </p:txBody>
      </p:sp>
      <p:sp>
        <p:nvSpPr>
          <p:cNvPr id="229" name="Google Shape;229;p27"/>
          <p:cNvSpPr txBox="1"/>
          <p:nvPr/>
        </p:nvSpPr>
        <p:spPr>
          <a:xfrm>
            <a:off x="4732146" y="1954530"/>
            <a:ext cx="39777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onsolas"/>
                <a:ea typeface="Consolas"/>
                <a:cs typeface="Consolas"/>
                <a:sym typeface="Consolas"/>
              </a:rPr>
              <a:t>output = N – K + 1  →  each pass: -(K-1)</a:t>
            </a:r>
            <a:endParaRPr b="0" i="0" sz="1100" u="none" cap="none" strike="noStrike">
              <a:solidFill>
                <a:srgbClr val="000000"/>
              </a:solidFill>
              <a:latin typeface="Arial"/>
              <a:ea typeface="Arial"/>
              <a:cs typeface="Arial"/>
              <a:sym typeface="Arial"/>
            </a:endParaRPr>
          </a:p>
        </p:txBody>
      </p:sp>
      <p:sp>
        <p:nvSpPr>
          <p:cNvPr id="230" name="Google Shape;230;p27"/>
          <p:cNvSpPr txBox="1"/>
          <p:nvPr/>
        </p:nvSpPr>
        <p:spPr>
          <a:xfrm>
            <a:off x="4732146" y="2482596"/>
            <a:ext cx="39777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0B0B0B"/>
                </a:solidFill>
                <a:latin typeface="Calibri"/>
                <a:ea typeface="Calibri"/>
                <a:cs typeface="Calibri"/>
                <a:sym typeface="Calibri"/>
              </a:rPr>
              <a:t>Here  N = 108 x 200,  K = 21  →  every pass removes 20 pixels:</a:t>
            </a:r>
            <a:endParaRPr b="0" i="0" sz="1100" u="none" cap="none" strike="noStrike">
              <a:solidFill>
                <a:srgbClr val="000000"/>
              </a:solidFill>
              <a:latin typeface="Arial"/>
              <a:ea typeface="Arial"/>
              <a:cs typeface="Arial"/>
              <a:sym typeface="Arial"/>
            </a:endParaRPr>
          </a:p>
        </p:txBody>
      </p:sp>
      <p:sp>
        <p:nvSpPr>
          <p:cNvPr id="231" name="Google Shape;231;p27"/>
          <p:cNvSpPr txBox="1"/>
          <p:nvPr/>
        </p:nvSpPr>
        <p:spPr>
          <a:xfrm>
            <a:off x="4732146" y="2777490"/>
            <a:ext cx="4046400" cy="1350000"/>
          </a:xfrm>
          <a:prstGeom prst="rect">
            <a:avLst/>
          </a:prstGeom>
          <a:noFill/>
          <a:ln>
            <a:noFill/>
          </a:ln>
        </p:spPr>
        <p:txBody>
          <a:bodyPr anchorCtr="0" anchor="t" bIns="34275" lIns="68575" spcFirstLastPara="1" rIns="68575" wrap="square" tIns="34275">
            <a:spAutoFit/>
          </a:bodyPr>
          <a:lstStyle/>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start    </a:t>
            </a:r>
            <a:r>
              <a:rPr b="0" i="0" lang="en" sz="1000" u="none" cap="none" strike="noStrike">
                <a:solidFill>
                  <a:srgbClr val="0B0B0B"/>
                </a:solidFill>
                <a:latin typeface="Consolas"/>
                <a:ea typeface="Consolas"/>
                <a:cs typeface="Consolas"/>
                <a:sym typeface="Consolas"/>
              </a:rPr>
              <a:t>108 × 200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1   </a:t>
            </a:r>
            <a:r>
              <a:rPr b="0" i="0" lang="en" sz="1000" u="none" cap="none" strike="noStrike">
                <a:solidFill>
                  <a:srgbClr val="0B0B0B"/>
                </a:solidFill>
                <a:latin typeface="Consolas"/>
                <a:ea typeface="Consolas"/>
                <a:cs typeface="Consolas"/>
                <a:sym typeface="Consolas"/>
              </a:rPr>
              <a:t> 88 × 180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2   </a:t>
            </a:r>
            <a:r>
              <a:rPr b="0" i="0" lang="en" sz="1000" u="none" cap="none" strike="noStrike">
                <a:solidFill>
                  <a:srgbClr val="0B0B0B"/>
                </a:solidFill>
                <a:latin typeface="Consolas"/>
                <a:ea typeface="Consolas"/>
                <a:cs typeface="Consolas"/>
                <a:sym typeface="Consolas"/>
              </a:rPr>
              <a:t> 68 × 160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3   </a:t>
            </a:r>
            <a:r>
              <a:rPr b="0" i="0" lang="en" sz="1000" u="none" cap="none" strike="noStrike">
                <a:solidFill>
                  <a:srgbClr val="0B0B0B"/>
                </a:solidFill>
                <a:latin typeface="Consolas"/>
                <a:ea typeface="Consolas"/>
                <a:cs typeface="Consolas"/>
                <a:sym typeface="Consolas"/>
              </a:rPr>
              <a:t> 48 × 140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4   </a:t>
            </a:r>
            <a:r>
              <a:rPr b="0" i="0" lang="en" sz="1000" u="none" cap="none" strike="noStrike">
                <a:solidFill>
                  <a:srgbClr val="0B0B0B"/>
                </a:solidFill>
                <a:latin typeface="Consolas"/>
                <a:ea typeface="Consolas"/>
                <a:cs typeface="Consolas"/>
                <a:sym typeface="Consolas"/>
              </a:rPr>
              <a:t> 28 × 120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5   </a:t>
            </a:r>
            <a:r>
              <a:rPr b="0" i="0" lang="en" sz="1000" u="none" cap="none" strike="noStrike">
                <a:solidFill>
                  <a:srgbClr val="0B0B0B"/>
                </a:solidFill>
                <a:latin typeface="Consolas"/>
                <a:ea typeface="Consolas"/>
                <a:cs typeface="Consolas"/>
                <a:sym typeface="Consolas"/>
              </a:rPr>
              <a:t>  8 × 100</a:t>
            </a:r>
            <a:endParaRPr b="0" i="0" sz="1100" u="none" cap="none" strike="noStrike">
              <a:solidFill>
                <a:srgbClr val="000000"/>
              </a:solidFill>
              <a:latin typeface="Arial"/>
              <a:ea typeface="Arial"/>
              <a:cs typeface="Arial"/>
              <a:sym typeface="Arial"/>
            </a:endParaRPr>
          </a:p>
          <a:p>
            <a:pPr indent="0" lvl="0" marL="0" marR="0" rtl="0" algn="l">
              <a:lnSpc>
                <a:spcPct val="122000"/>
              </a:lnSpc>
              <a:spcBef>
                <a:spcPts val="0"/>
              </a:spcBef>
              <a:spcAft>
                <a:spcPts val="0"/>
              </a:spcAft>
              <a:buClr>
                <a:srgbClr val="000000"/>
              </a:buClr>
              <a:buSzPts val="1000"/>
              <a:buFont typeface="Arial"/>
              <a:buNone/>
            </a:pPr>
            <a:r>
              <a:rPr b="0" i="0" lang="en" sz="1000" u="none" cap="none" strike="noStrike">
                <a:solidFill>
                  <a:srgbClr val="898781"/>
                </a:solidFill>
                <a:latin typeface="Consolas"/>
                <a:ea typeface="Consolas"/>
                <a:cs typeface="Consolas"/>
                <a:sym typeface="Consolas"/>
              </a:rPr>
              <a:t>pass 6   </a:t>
            </a:r>
            <a:r>
              <a:rPr b="1" i="0" lang="en" sz="1000" u="none" cap="none" strike="noStrike">
                <a:solidFill>
                  <a:srgbClr val="E34948"/>
                </a:solidFill>
                <a:latin typeface="Consolas"/>
                <a:ea typeface="Consolas"/>
                <a:cs typeface="Consolas"/>
                <a:sym typeface="Consolas"/>
              </a:rPr>
              <a:t>  8 &lt; 21 — kernel doesn't fit</a:t>
            </a:r>
            <a:endParaRPr b="0" i="0" sz="1100" u="none" cap="none" strike="noStrike">
              <a:solidFill>
                <a:srgbClr val="000000"/>
              </a:solidFill>
              <a:latin typeface="Arial"/>
              <a:ea typeface="Arial"/>
              <a:cs typeface="Arial"/>
              <a:sym typeface="Arial"/>
            </a:endParaRPr>
          </a:p>
        </p:txBody>
      </p:sp>
      <p:sp>
        <p:nvSpPr>
          <p:cNvPr id="232" name="Google Shape;232;p27"/>
          <p:cNvSpPr txBox="1"/>
          <p:nvPr/>
        </p:nvSpPr>
        <p:spPr>
          <a:xfrm>
            <a:off x="4732146" y="4402836"/>
            <a:ext cx="40464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1" lang="en" sz="900" u="none" cap="none" strike="noStrike">
                <a:solidFill>
                  <a:srgbClr val="52514E"/>
                </a:solidFill>
                <a:latin typeface="Calibri"/>
                <a:ea typeface="Calibri"/>
                <a:cs typeface="Calibri"/>
                <a:sym typeface="Calibri"/>
              </a:rPr>
              <a:t>(This applies to all kernels. A 3x3 loses 2 pixels per pass)</a:t>
            </a:r>
            <a:endParaRPr b="0" i="0" sz="1100" u="none" cap="none" strike="noStrike">
              <a:solidFill>
                <a:srgbClr val="000000"/>
              </a:solidFill>
              <a:latin typeface="Arial"/>
              <a:ea typeface="Arial"/>
              <a:cs typeface="Arial"/>
              <a:sym typeface="Arial"/>
            </a:endParaRPr>
          </a:p>
        </p:txBody>
      </p:sp>
      <p:sp>
        <p:nvSpPr>
          <p:cNvPr id="233" name="Google Shape;233;p27"/>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4" name="Google Shape;234;p27"/>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5" name="Google Shape;235;p27"/>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6" name="Google Shape;236;p27"/>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237" name="Google Shape;237;p27"/>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3 / 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p:nvPr/>
        </p:nvSpPr>
        <p:spPr>
          <a:xfrm>
            <a:off x="0" y="0"/>
            <a:ext cx="9144015" cy="5143500"/>
          </a:xfrm>
          <a:prstGeom prst="rect">
            <a:avLst/>
          </a:prstGeom>
          <a:solidFill>
            <a:srgbClr val="FEF6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4" name="Google Shape;244;p28"/>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5" name="Google Shape;245;p28"/>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6" name="Google Shape;246;p28"/>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7" name="Google Shape;247;p28"/>
          <p:cNvSpPr/>
          <p:nvPr/>
        </p:nvSpPr>
        <p:spPr>
          <a:xfrm>
            <a:off x="8394416"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8" name="Google Shape;248;p28"/>
          <p:cNvSpPr/>
          <p:nvPr/>
        </p:nvSpPr>
        <p:spPr>
          <a:xfrm>
            <a:off x="8497289"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9" name="Google Shape;249;p28"/>
          <p:cNvSpPr/>
          <p:nvPr/>
        </p:nvSpPr>
        <p:spPr>
          <a:xfrm>
            <a:off x="8600161" y="20574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0" name="Google Shape;250;p28"/>
          <p:cNvSpPr/>
          <p:nvPr/>
        </p:nvSpPr>
        <p:spPr>
          <a:xfrm>
            <a:off x="8394416" y="308609"/>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1" name="Google Shape;251;p28"/>
          <p:cNvSpPr/>
          <p:nvPr/>
        </p:nvSpPr>
        <p:spPr>
          <a:xfrm>
            <a:off x="8497289" y="308609"/>
            <a:ext cx="78869" cy="78867"/>
          </a:xfrm>
          <a:prstGeom prst="rect">
            <a:avLst/>
          </a:prstGeom>
          <a:solidFill>
            <a:srgbClr val="E349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2" name="Google Shape;252;p28"/>
          <p:cNvSpPr/>
          <p:nvPr/>
        </p:nvSpPr>
        <p:spPr>
          <a:xfrm>
            <a:off x="8600161" y="308609"/>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3" name="Google Shape;253;p28"/>
          <p:cNvSpPr/>
          <p:nvPr/>
        </p:nvSpPr>
        <p:spPr>
          <a:xfrm>
            <a:off x="8394416"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4" name="Google Shape;254;p28"/>
          <p:cNvSpPr/>
          <p:nvPr/>
        </p:nvSpPr>
        <p:spPr>
          <a:xfrm>
            <a:off x="8497289"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5" name="Google Shape;255;p28"/>
          <p:cNvSpPr/>
          <p:nvPr/>
        </p:nvSpPr>
        <p:spPr>
          <a:xfrm>
            <a:off x="8600161" y="411480"/>
            <a:ext cx="78869" cy="78867"/>
          </a:xfrm>
          <a:prstGeom prst="rect">
            <a:avLst/>
          </a:prstGeom>
          <a:solidFill>
            <a:srgbClr val="F7C8C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6" name="Google Shape;256;p28"/>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E34948"/>
                </a:solidFill>
                <a:latin typeface="Calibri"/>
                <a:ea typeface="Calibri"/>
                <a:cs typeface="Calibri"/>
                <a:sym typeface="Calibri"/>
              </a:rPr>
              <a:t>PROBLEM 2 OF 2</a:t>
            </a:r>
            <a:endParaRPr b="0" i="0" sz="1100" u="none" cap="none" strike="noStrike">
              <a:solidFill>
                <a:srgbClr val="000000"/>
              </a:solidFill>
              <a:latin typeface="Arial"/>
              <a:ea typeface="Arial"/>
              <a:cs typeface="Arial"/>
              <a:sym typeface="Arial"/>
            </a:endParaRPr>
          </a:p>
        </p:txBody>
      </p:sp>
      <p:sp>
        <p:nvSpPr>
          <p:cNvPr id="257" name="Google Shape;257;p28"/>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Problem 2 – We bias against the edges! (uneven usage of pixels)</a:t>
            </a:r>
            <a:endParaRPr b="0" i="0" sz="1100" u="none" cap="none" strike="noStrike">
              <a:solidFill>
                <a:srgbClr val="000000"/>
              </a:solidFill>
              <a:latin typeface="Arial"/>
              <a:ea typeface="Arial"/>
              <a:cs typeface="Arial"/>
              <a:sym typeface="Arial"/>
            </a:endParaRPr>
          </a:p>
        </p:txBody>
      </p:sp>
      <p:sp>
        <p:nvSpPr>
          <p:cNvPr id="258" name="Google Shape;258;p28"/>
          <p:cNvSpPr/>
          <p:nvPr/>
        </p:nvSpPr>
        <p:spPr>
          <a:xfrm>
            <a:off x="377200" y="877824"/>
            <a:ext cx="754400" cy="24003"/>
          </a:xfrm>
          <a:prstGeom prst="rect">
            <a:avLst/>
          </a:prstGeom>
          <a:solidFill>
            <a:srgbClr val="E3494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9" name="Google Shape;259;p28"/>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0" name="Google Shape;260;p28"/>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1" name="Google Shape;261;p28"/>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2" name="Google Shape;262;p28"/>
          <p:cNvSpPr txBox="1"/>
          <p:nvPr/>
        </p:nvSpPr>
        <p:spPr>
          <a:xfrm>
            <a:off x="586341" y="1046965"/>
            <a:ext cx="7978200" cy="2385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273239"/>
                </a:solidFill>
                <a:highlight>
                  <a:srgbClr val="FFFFFF"/>
                </a:highlight>
                <a:latin typeface="Calibri"/>
                <a:ea typeface="Calibri"/>
                <a:cs typeface="Calibri"/>
                <a:sym typeface="Calibri"/>
              </a:rPr>
              <a:t>When convolution is applied without padding, it leads to uneven usage of pixels across the image.</a:t>
            </a:r>
            <a:endParaRPr b="1" i="0" sz="1100" u="none" cap="none" strike="noStrike">
              <a:solidFill>
                <a:srgbClr val="000000"/>
              </a:solidFill>
              <a:latin typeface="Calibri"/>
              <a:ea typeface="Calibri"/>
              <a:cs typeface="Calibri"/>
              <a:sym typeface="Calibri"/>
            </a:endParaRPr>
          </a:p>
        </p:txBody>
      </p:sp>
      <p:sp>
        <p:nvSpPr>
          <p:cNvPr id="263" name="Google Shape;263;p28"/>
          <p:cNvSpPr/>
          <p:nvPr/>
        </p:nvSpPr>
        <p:spPr>
          <a:xfrm>
            <a:off x="342909" y="1577340"/>
            <a:ext cx="3531964" cy="305181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edge_bias.png" id="264" name="Google Shape;264;p28"/>
          <p:cNvPicPr preferRelativeResize="0"/>
          <p:nvPr/>
        </p:nvPicPr>
        <p:blipFill rotWithShape="1">
          <a:blip r:embed="rId3">
            <a:alphaModFix/>
          </a:blip>
          <a:srcRect b="0" l="0" r="0" t="0"/>
          <a:stretch/>
        </p:blipFill>
        <p:spPr>
          <a:xfrm>
            <a:off x="555985" y="1673352"/>
            <a:ext cx="3105728" cy="2859786"/>
          </a:xfrm>
          <a:prstGeom prst="rect">
            <a:avLst/>
          </a:prstGeom>
          <a:noFill/>
          <a:ln>
            <a:noFill/>
          </a:ln>
        </p:spPr>
      </p:pic>
      <p:sp>
        <p:nvSpPr>
          <p:cNvPr id="265" name="Google Shape;265;p28"/>
          <p:cNvSpPr txBox="1"/>
          <p:nvPr/>
        </p:nvSpPr>
        <p:spPr>
          <a:xfrm>
            <a:off x="4152655" y="3423457"/>
            <a:ext cx="4423500" cy="11841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rgbClr val="000000"/>
              </a:buClr>
              <a:buSzPts val="1200"/>
              <a:buFont typeface="Arial"/>
              <a:buNone/>
            </a:pPr>
            <a:r>
              <a:rPr b="1" i="0" lang="en" sz="1200" u="none" cap="none" strike="noStrike">
                <a:solidFill>
                  <a:srgbClr val="E34948"/>
                </a:solidFill>
                <a:latin typeface="Calibri"/>
                <a:ea typeface="Calibri"/>
                <a:cs typeface="Calibri"/>
                <a:sym typeface="Calibri"/>
              </a:rPr>
              <a:t>▸  </a:t>
            </a:r>
            <a:r>
              <a:rPr b="0" i="0" lang="en" sz="1200" u="none" cap="none" strike="noStrike">
                <a:solidFill>
                  <a:srgbClr val="0B0B0B"/>
                </a:solidFill>
                <a:latin typeface="Calibri"/>
                <a:ea typeface="Calibri"/>
                <a:cs typeface="Calibri"/>
                <a:sym typeface="Calibri"/>
              </a:rPr>
              <a:t>The kernel can only sit where it fully fits inside the image. The consequence of this is that the kernel passes over the edge pixels fewer times than it does the center pixels.</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800"/>
              </a:spcBef>
              <a:spcAft>
                <a:spcPts val="0"/>
              </a:spcAft>
              <a:buClr>
                <a:srgbClr val="000000"/>
              </a:buClr>
              <a:buSzPts val="1200"/>
              <a:buFont typeface="Arial"/>
              <a:buNone/>
            </a:pPr>
            <a:r>
              <a:rPr b="1" i="0" lang="en" sz="1200" u="none" cap="none" strike="noStrike">
                <a:solidFill>
                  <a:srgbClr val="E34948"/>
                </a:solidFill>
                <a:latin typeface="Calibri"/>
                <a:ea typeface="Calibri"/>
                <a:cs typeface="Calibri"/>
                <a:sym typeface="Calibri"/>
              </a:rPr>
              <a:t>▸  </a:t>
            </a:r>
            <a:r>
              <a:rPr b="1" i="0" lang="en" sz="1200" u="none" cap="none" strike="noStrike">
                <a:solidFill>
                  <a:srgbClr val="0B0B0B"/>
                </a:solidFill>
                <a:latin typeface="Calibri"/>
                <a:ea typeface="Calibri"/>
                <a:cs typeface="Calibri"/>
                <a:sym typeface="Calibri"/>
              </a:rPr>
              <a:t>Thus, with no padding, the convolution extracts less information from the edges than it does from the center pixels.</a:t>
            </a:r>
            <a:endParaRPr b="0" i="0" sz="1100" u="none" cap="none" strike="noStrike">
              <a:solidFill>
                <a:srgbClr val="000000"/>
              </a:solidFill>
              <a:latin typeface="Arial"/>
              <a:ea typeface="Arial"/>
              <a:cs typeface="Arial"/>
              <a:sym typeface="Arial"/>
            </a:endParaRPr>
          </a:p>
        </p:txBody>
      </p:sp>
      <p:sp>
        <p:nvSpPr>
          <p:cNvPr id="266" name="Google Shape;266;p28"/>
          <p:cNvSpPr/>
          <p:nvPr/>
        </p:nvSpPr>
        <p:spPr>
          <a:xfrm>
            <a:off x="4152662" y="1523167"/>
            <a:ext cx="2469000" cy="174870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visit_counts_valid.png" id="267" name="Google Shape;267;p28"/>
          <p:cNvPicPr preferRelativeResize="0"/>
          <p:nvPr/>
        </p:nvPicPr>
        <p:blipFill rotWithShape="1">
          <a:blip r:embed="rId4">
            <a:alphaModFix/>
          </a:blip>
          <a:srcRect b="0" l="0" r="0" t="0"/>
          <a:stretch/>
        </p:blipFill>
        <p:spPr>
          <a:xfrm>
            <a:off x="4696677" y="1605464"/>
            <a:ext cx="1380879" cy="1584199"/>
          </a:xfrm>
          <a:prstGeom prst="rect">
            <a:avLst/>
          </a:prstGeom>
          <a:noFill/>
          <a:ln>
            <a:noFill/>
          </a:ln>
        </p:spPr>
      </p:pic>
      <p:sp>
        <p:nvSpPr>
          <p:cNvPr id="268" name="Google Shape;268;p28"/>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9" name="Google Shape;269;p28"/>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0" name="Google Shape;270;p28"/>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1" name="Google Shape;271;p28"/>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272" name="Google Shape;272;p28"/>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4 / 11</a:t>
            </a:r>
            <a:endParaRPr b="0" i="0" sz="1100" u="none" cap="none" strike="noStrike">
              <a:solidFill>
                <a:srgbClr val="000000"/>
              </a:solidFill>
              <a:latin typeface="Arial"/>
              <a:ea typeface="Arial"/>
              <a:cs typeface="Arial"/>
              <a:sym typeface="Arial"/>
            </a:endParaRPr>
          </a:p>
        </p:txBody>
      </p:sp>
      <p:sp>
        <p:nvSpPr>
          <p:cNvPr id="273" name="Google Shape;273;p28"/>
          <p:cNvSpPr/>
          <p:nvPr/>
        </p:nvSpPr>
        <p:spPr>
          <a:xfrm>
            <a:off x="6697650" y="1523175"/>
            <a:ext cx="1799700" cy="174870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4" name="Google Shape;274;p28"/>
          <p:cNvSpPr txBox="1"/>
          <p:nvPr/>
        </p:nvSpPr>
        <p:spPr>
          <a:xfrm>
            <a:off x="6800515" y="1578043"/>
            <a:ext cx="16461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1" i="0" lang="en" sz="700" u="none" cap="none" strike="noStrike">
                <a:solidFill>
                  <a:srgbClr val="E34948"/>
                </a:solidFill>
                <a:latin typeface="Calibri"/>
                <a:ea typeface="Calibri"/>
                <a:cs typeface="Calibri"/>
                <a:sym typeface="Calibri"/>
              </a:rPr>
              <a:t>EXAMPLE</a:t>
            </a:r>
            <a:endParaRPr b="0" i="0" sz="1100" u="none" cap="none" strike="noStrike">
              <a:solidFill>
                <a:srgbClr val="000000"/>
              </a:solidFill>
              <a:latin typeface="Arial"/>
              <a:ea typeface="Arial"/>
              <a:cs typeface="Arial"/>
              <a:sym typeface="Arial"/>
            </a:endParaRPr>
          </a:p>
        </p:txBody>
      </p:sp>
      <p:pic>
        <p:nvPicPr>
          <p:cNvPr descr="pedestrian_edge.png" id="275" name="Google Shape;275;p28"/>
          <p:cNvPicPr preferRelativeResize="0"/>
          <p:nvPr/>
        </p:nvPicPr>
        <p:blipFill rotWithShape="1">
          <a:blip r:embed="rId5">
            <a:alphaModFix/>
          </a:blip>
          <a:srcRect b="0" l="0" r="0" t="0"/>
          <a:stretch/>
        </p:blipFill>
        <p:spPr>
          <a:xfrm>
            <a:off x="6800515" y="1766639"/>
            <a:ext cx="1645920" cy="925829"/>
          </a:xfrm>
          <a:prstGeom prst="rect">
            <a:avLst/>
          </a:prstGeom>
          <a:noFill/>
          <a:ln>
            <a:noFill/>
          </a:ln>
        </p:spPr>
      </p:pic>
      <p:sp>
        <p:nvSpPr>
          <p:cNvPr id="276" name="Google Shape;276;p28"/>
          <p:cNvSpPr txBox="1"/>
          <p:nvPr/>
        </p:nvSpPr>
        <p:spPr>
          <a:xfrm>
            <a:off x="6800515" y="2737046"/>
            <a:ext cx="1646100" cy="2955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0B0B0B"/>
                </a:solidFill>
                <a:latin typeface="Calibri"/>
                <a:ea typeface="Calibri"/>
                <a:cs typeface="Calibri"/>
                <a:sym typeface="Calibri"/>
              </a:rPr>
              <a:t>a pedestrian entering the frame sits exactly where convolution listens least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p:nvPr/>
        </p:nvSpPr>
        <p:spPr>
          <a:xfrm>
            <a:off x="0" y="0"/>
            <a:ext cx="9144000"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3" name="Google Shape;283;p29"/>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4" name="Google Shape;284;p29"/>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5" name="Google Shape;285;p29"/>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6" name="Google Shape;286;p29"/>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7" name="Google Shape;287;p29"/>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8" name="Google Shape;288;p29"/>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9" name="Google Shape;289;p29"/>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0" name="Google Shape;290;p29"/>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1" name="Google Shape;291;p29"/>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2" name="Google Shape;292;p29"/>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3" name="Google Shape;293;p29"/>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4" name="Google Shape;294;p29"/>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5" name="Google Shape;295;p29"/>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THE KEY IDEA</a:t>
            </a:r>
            <a:endParaRPr b="0" i="0" sz="1100" u="none" cap="none" strike="noStrike">
              <a:solidFill>
                <a:srgbClr val="000000"/>
              </a:solidFill>
              <a:latin typeface="Arial"/>
              <a:ea typeface="Arial"/>
              <a:cs typeface="Arial"/>
              <a:sym typeface="Arial"/>
            </a:endParaRPr>
          </a:p>
        </p:txBody>
      </p:sp>
      <p:sp>
        <p:nvSpPr>
          <p:cNvPr id="296" name="Google Shape;296;p29"/>
          <p:cNvSpPr txBox="1"/>
          <p:nvPr/>
        </p:nvSpPr>
        <p:spPr>
          <a:xfrm>
            <a:off x="377200" y="384048"/>
            <a:ext cx="8389615"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700"/>
              <a:buFont typeface="Arial"/>
              <a:buNone/>
            </a:pPr>
            <a:r>
              <a:rPr b="1" i="0" lang="en" sz="1700" u="none" cap="none" strike="noStrike">
                <a:solidFill>
                  <a:srgbClr val="0B0B0B"/>
                </a:solidFill>
                <a:latin typeface="Calibri"/>
                <a:ea typeface="Calibri"/>
                <a:cs typeface="Calibri"/>
                <a:sym typeface="Calibri"/>
              </a:rPr>
              <a:t>Solution: Padding! But how do we pad and what pixels do we keep?</a:t>
            </a:r>
            <a:endParaRPr b="0" i="0" sz="1100" u="none" cap="none" strike="noStrike">
              <a:solidFill>
                <a:srgbClr val="000000"/>
              </a:solidFill>
              <a:latin typeface="Arial"/>
              <a:ea typeface="Arial"/>
              <a:cs typeface="Arial"/>
              <a:sym typeface="Arial"/>
            </a:endParaRPr>
          </a:p>
        </p:txBody>
      </p:sp>
      <p:sp>
        <p:nvSpPr>
          <p:cNvPr id="297" name="Google Shape;297;p29"/>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8" name="Google Shape;298;p29"/>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9" name="Google Shape;299;p29"/>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0" name="Google Shape;300;p29"/>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1" name="Google Shape;301;p29"/>
          <p:cNvSpPr txBox="1"/>
          <p:nvPr/>
        </p:nvSpPr>
        <p:spPr>
          <a:xfrm>
            <a:off x="610378" y="987552"/>
            <a:ext cx="7978200" cy="40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Valid, same, and full are the three ways to handle the edges. Each method indicates how much padding we add, which decides where the kernel goes and how big the output is.</a:t>
            </a:r>
            <a:endParaRPr b="1" i="0" sz="1100" u="none" cap="none" strike="noStrike">
              <a:solidFill>
                <a:srgbClr val="0B0B0B"/>
              </a:solidFill>
              <a:latin typeface="Calibri"/>
              <a:ea typeface="Calibri"/>
              <a:cs typeface="Calibri"/>
              <a:sym typeface="Calibri"/>
            </a:endParaRPr>
          </a:p>
        </p:txBody>
      </p:sp>
      <p:sp>
        <p:nvSpPr>
          <p:cNvPr id="302" name="Google Shape;302;p29"/>
          <p:cNvSpPr txBox="1"/>
          <p:nvPr/>
        </p:nvSpPr>
        <p:spPr>
          <a:xfrm>
            <a:off x="377200" y="1481328"/>
            <a:ext cx="8389615"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1100"/>
              <a:buFont typeface="Arial"/>
              <a:buNone/>
            </a:pPr>
            <a:r>
              <a:rPr b="0" i="0" lang="en" sz="1100" u="none" cap="none" strike="noStrike">
                <a:solidFill>
                  <a:srgbClr val="0B0B0B"/>
                </a:solidFill>
                <a:latin typeface="Calibri"/>
                <a:ea typeface="Calibri"/>
                <a:cs typeface="Calibri"/>
                <a:sym typeface="Calibri"/>
              </a:rPr>
              <a:t>The solution to both problems: padding — add a ring of p extra pixels around the image before convolving.</a:t>
            </a:r>
            <a:endParaRPr b="0" i="0" sz="1100" u="none" cap="none" strike="noStrike">
              <a:solidFill>
                <a:srgbClr val="000000"/>
              </a:solidFill>
              <a:latin typeface="Arial"/>
              <a:ea typeface="Arial"/>
              <a:cs typeface="Arial"/>
              <a:sym typeface="Arial"/>
            </a:endParaRPr>
          </a:p>
        </p:txBody>
      </p:sp>
      <p:sp>
        <p:nvSpPr>
          <p:cNvPr id="303" name="Google Shape;303;p29"/>
          <p:cNvSpPr/>
          <p:nvPr/>
        </p:nvSpPr>
        <p:spPr>
          <a:xfrm>
            <a:off x="2859862" y="1783080"/>
            <a:ext cx="3429091" cy="425196"/>
          </a:xfrm>
          <a:prstGeom prst="roundRect">
            <a:avLst>
              <a:gd fmla="val 16667" name="adj"/>
            </a:avLst>
          </a:prstGeom>
          <a:solidFill>
            <a:srgbClr val="DDE3E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4" name="Google Shape;304;p29"/>
          <p:cNvSpPr/>
          <p:nvPr/>
        </p:nvSpPr>
        <p:spPr>
          <a:xfrm>
            <a:off x="2901011" y="1844802"/>
            <a:ext cx="48007" cy="301752"/>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5" name="Google Shape;305;p29"/>
          <p:cNvSpPr txBox="1"/>
          <p:nvPr/>
        </p:nvSpPr>
        <p:spPr>
          <a:xfrm>
            <a:off x="2859862" y="1851660"/>
            <a:ext cx="3429091" cy="30861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1400"/>
              <a:buFont typeface="Arial"/>
              <a:buNone/>
            </a:pPr>
            <a:r>
              <a:rPr b="1" i="0" lang="en" sz="1400" u="none" cap="none" strike="noStrike">
                <a:solidFill>
                  <a:srgbClr val="0B0B0B"/>
                </a:solidFill>
                <a:latin typeface="Consolas"/>
                <a:ea typeface="Consolas"/>
                <a:cs typeface="Consolas"/>
                <a:sym typeface="Consolas"/>
              </a:rPr>
              <a:t>output = N + 2p − K + 1</a:t>
            </a:r>
            <a:endParaRPr b="0" i="0" sz="1100" u="none" cap="none" strike="noStrike">
              <a:solidFill>
                <a:srgbClr val="000000"/>
              </a:solidFill>
              <a:latin typeface="Arial"/>
              <a:ea typeface="Arial"/>
              <a:cs typeface="Arial"/>
              <a:sym typeface="Arial"/>
            </a:endParaRPr>
          </a:p>
        </p:txBody>
      </p:sp>
      <p:sp>
        <p:nvSpPr>
          <p:cNvPr id="306" name="Google Shape;306;p29"/>
          <p:cNvSpPr/>
          <p:nvPr/>
        </p:nvSpPr>
        <p:spPr>
          <a:xfrm>
            <a:off x="377200" y="2366010"/>
            <a:ext cx="2708982" cy="1680210"/>
          </a:xfrm>
          <a:prstGeom prst="roundRect">
            <a:avLst>
              <a:gd fmla="val 16667"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7" name="Google Shape;307;p29"/>
          <p:cNvSpPr/>
          <p:nvPr/>
        </p:nvSpPr>
        <p:spPr>
          <a:xfrm>
            <a:off x="418349" y="2427732"/>
            <a:ext cx="48007" cy="1556766"/>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8" name="Google Shape;308;p29"/>
          <p:cNvSpPr/>
          <p:nvPr/>
        </p:nvSpPr>
        <p:spPr>
          <a:xfrm>
            <a:off x="569229" y="2516886"/>
            <a:ext cx="137164" cy="137160"/>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9" name="Google Shape;309;p29"/>
          <p:cNvSpPr txBox="1"/>
          <p:nvPr/>
        </p:nvSpPr>
        <p:spPr>
          <a:xfrm>
            <a:off x="774974" y="2462022"/>
            <a:ext cx="21603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Valid Convolution · p = 0</a:t>
            </a:r>
            <a:endParaRPr b="0" i="0" sz="1100" u="none" cap="none" strike="noStrike">
              <a:solidFill>
                <a:srgbClr val="000000"/>
              </a:solidFill>
              <a:latin typeface="Arial"/>
              <a:ea typeface="Arial"/>
              <a:cs typeface="Arial"/>
              <a:sym typeface="Arial"/>
            </a:endParaRPr>
          </a:p>
        </p:txBody>
      </p:sp>
      <p:sp>
        <p:nvSpPr>
          <p:cNvPr id="310" name="Google Shape;310;p29"/>
          <p:cNvSpPr txBox="1"/>
          <p:nvPr/>
        </p:nvSpPr>
        <p:spPr>
          <a:xfrm>
            <a:off x="569229" y="2777490"/>
            <a:ext cx="2366100" cy="561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0" i="0" lang="en" sz="1000" u="none" cap="none" strike="noStrike">
                <a:solidFill>
                  <a:srgbClr val="0B0B0B"/>
                </a:solidFill>
                <a:latin typeface="Calibri"/>
                <a:ea typeface="Calibri"/>
                <a:cs typeface="Calibri"/>
                <a:sym typeface="Calibri"/>
              </a:rPr>
              <a:t>Valid Convolution is when convolution is computed only where the kernel lies entirely inside the image (no padding).</a:t>
            </a:r>
            <a:endParaRPr b="0" i="0" sz="1100" u="none" cap="none" strike="noStrike">
              <a:solidFill>
                <a:srgbClr val="000000"/>
              </a:solidFill>
              <a:latin typeface="Arial"/>
              <a:ea typeface="Arial"/>
              <a:cs typeface="Arial"/>
              <a:sym typeface="Arial"/>
            </a:endParaRPr>
          </a:p>
        </p:txBody>
      </p:sp>
      <p:sp>
        <p:nvSpPr>
          <p:cNvPr id="311" name="Google Shape;311;p29"/>
          <p:cNvSpPr txBox="1"/>
          <p:nvPr/>
        </p:nvSpPr>
        <p:spPr>
          <a:xfrm>
            <a:off x="569229" y="3435858"/>
            <a:ext cx="2366073"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Output: N − K + 1   (shrinks)</a:t>
            </a:r>
            <a:endParaRPr b="0" i="0" sz="1100" u="none" cap="none" strike="noStrike">
              <a:solidFill>
                <a:srgbClr val="000000"/>
              </a:solidFill>
              <a:latin typeface="Arial"/>
              <a:ea typeface="Arial"/>
              <a:cs typeface="Arial"/>
              <a:sym typeface="Arial"/>
            </a:endParaRPr>
          </a:p>
        </p:txBody>
      </p:sp>
      <p:sp>
        <p:nvSpPr>
          <p:cNvPr id="312" name="Google Shape;312;p29"/>
          <p:cNvSpPr txBox="1"/>
          <p:nvPr/>
        </p:nvSpPr>
        <p:spPr>
          <a:xfrm>
            <a:off x="569229" y="3669030"/>
            <a:ext cx="23661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898781"/>
                </a:solidFill>
                <a:latin typeface="Calibri"/>
                <a:ea typeface="Calibri"/>
                <a:cs typeface="Calibri"/>
                <a:sym typeface="Calibri"/>
              </a:rPr>
              <a:t>Padding: none needed</a:t>
            </a:r>
            <a:endParaRPr b="0" i="0" sz="1100" u="none" cap="none" strike="noStrike">
              <a:solidFill>
                <a:srgbClr val="000000"/>
              </a:solidFill>
              <a:latin typeface="Arial"/>
              <a:ea typeface="Arial"/>
              <a:cs typeface="Arial"/>
              <a:sym typeface="Arial"/>
            </a:endParaRPr>
          </a:p>
        </p:txBody>
      </p:sp>
      <p:sp>
        <p:nvSpPr>
          <p:cNvPr id="313" name="Google Shape;313;p29"/>
          <p:cNvSpPr/>
          <p:nvPr/>
        </p:nvSpPr>
        <p:spPr>
          <a:xfrm>
            <a:off x="3216488" y="2366010"/>
            <a:ext cx="2708982" cy="1680210"/>
          </a:xfrm>
          <a:prstGeom prst="roundRect">
            <a:avLst>
              <a:gd fmla="val 16667"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4" name="Google Shape;314;p29"/>
          <p:cNvSpPr/>
          <p:nvPr/>
        </p:nvSpPr>
        <p:spPr>
          <a:xfrm>
            <a:off x="3257637" y="2427732"/>
            <a:ext cx="48007" cy="1556766"/>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5" name="Google Shape;315;p29"/>
          <p:cNvSpPr/>
          <p:nvPr/>
        </p:nvSpPr>
        <p:spPr>
          <a:xfrm>
            <a:off x="3408517" y="2516886"/>
            <a:ext cx="137164" cy="137160"/>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6" name="Google Shape;316;p29"/>
          <p:cNvSpPr txBox="1"/>
          <p:nvPr/>
        </p:nvSpPr>
        <p:spPr>
          <a:xfrm>
            <a:off x="3614262" y="2462022"/>
            <a:ext cx="21603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Same Convolution · p = (K−1)/2</a:t>
            </a:r>
            <a:endParaRPr b="0" i="0" sz="1100" u="none" cap="none" strike="noStrike">
              <a:solidFill>
                <a:srgbClr val="000000"/>
              </a:solidFill>
              <a:latin typeface="Arial"/>
              <a:ea typeface="Arial"/>
              <a:cs typeface="Arial"/>
              <a:sym typeface="Arial"/>
            </a:endParaRPr>
          </a:p>
        </p:txBody>
      </p:sp>
      <p:sp>
        <p:nvSpPr>
          <p:cNvPr id="317" name="Google Shape;317;p29"/>
          <p:cNvSpPr txBox="1"/>
          <p:nvPr/>
        </p:nvSpPr>
        <p:spPr>
          <a:xfrm>
            <a:off x="3408517" y="2777490"/>
            <a:ext cx="2366100" cy="561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0" i="0" lang="en" sz="1000" u="none" cap="none" strike="noStrike">
                <a:solidFill>
                  <a:srgbClr val="0B0B0B"/>
                </a:solidFill>
                <a:latin typeface="Calibri"/>
                <a:ea typeface="Calibri"/>
                <a:cs typeface="Calibri"/>
                <a:sym typeface="Calibri"/>
              </a:rPr>
              <a:t>Same Convolution is convolution with just enough padding that the output is the same size as the input.</a:t>
            </a:r>
            <a:endParaRPr b="0" i="0" sz="1100" u="none" cap="none" strike="noStrike">
              <a:solidFill>
                <a:srgbClr val="000000"/>
              </a:solidFill>
              <a:latin typeface="Arial"/>
              <a:ea typeface="Arial"/>
              <a:cs typeface="Arial"/>
              <a:sym typeface="Arial"/>
            </a:endParaRPr>
          </a:p>
        </p:txBody>
      </p:sp>
      <p:sp>
        <p:nvSpPr>
          <p:cNvPr id="318" name="Google Shape;318;p29"/>
          <p:cNvSpPr txBox="1"/>
          <p:nvPr/>
        </p:nvSpPr>
        <p:spPr>
          <a:xfrm>
            <a:off x="3408517" y="3435858"/>
            <a:ext cx="2366073"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Output: N   (unchanged)</a:t>
            </a:r>
            <a:endParaRPr b="0" i="0" sz="1100" u="none" cap="none" strike="noStrike">
              <a:solidFill>
                <a:srgbClr val="000000"/>
              </a:solidFill>
              <a:latin typeface="Arial"/>
              <a:ea typeface="Arial"/>
              <a:cs typeface="Arial"/>
              <a:sym typeface="Arial"/>
            </a:endParaRPr>
          </a:p>
        </p:txBody>
      </p:sp>
      <p:sp>
        <p:nvSpPr>
          <p:cNvPr id="319" name="Google Shape;319;p29"/>
          <p:cNvSpPr txBox="1"/>
          <p:nvPr/>
        </p:nvSpPr>
        <p:spPr>
          <a:xfrm>
            <a:off x="3408517" y="3669030"/>
            <a:ext cx="23661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898781"/>
                </a:solidFill>
                <a:latin typeface="Calibri"/>
                <a:ea typeface="Calibri"/>
                <a:cs typeface="Calibri"/>
                <a:sym typeface="Calibri"/>
              </a:rPr>
              <a:t>Padding: any (e.g. zero, reflection)</a:t>
            </a:r>
            <a:endParaRPr b="0" i="0" sz="1100" u="none" cap="none" strike="noStrike">
              <a:solidFill>
                <a:srgbClr val="000000"/>
              </a:solidFill>
              <a:latin typeface="Arial"/>
              <a:ea typeface="Arial"/>
              <a:cs typeface="Arial"/>
              <a:sym typeface="Arial"/>
            </a:endParaRPr>
          </a:p>
        </p:txBody>
      </p:sp>
      <p:sp>
        <p:nvSpPr>
          <p:cNvPr id="320" name="Google Shape;320;p29"/>
          <p:cNvSpPr/>
          <p:nvPr/>
        </p:nvSpPr>
        <p:spPr>
          <a:xfrm>
            <a:off x="6055775" y="2366010"/>
            <a:ext cx="2708982" cy="1680210"/>
          </a:xfrm>
          <a:prstGeom prst="roundRect">
            <a:avLst>
              <a:gd fmla="val 16667"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1" name="Google Shape;321;p29"/>
          <p:cNvSpPr/>
          <p:nvPr/>
        </p:nvSpPr>
        <p:spPr>
          <a:xfrm>
            <a:off x="6096925" y="2427732"/>
            <a:ext cx="48007" cy="1556766"/>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2" name="Google Shape;322;p29"/>
          <p:cNvSpPr/>
          <p:nvPr/>
        </p:nvSpPr>
        <p:spPr>
          <a:xfrm>
            <a:off x="6247805" y="2516886"/>
            <a:ext cx="137164" cy="137160"/>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3" name="Google Shape;323;p29"/>
          <p:cNvSpPr txBox="1"/>
          <p:nvPr/>
        </p:nvSpPr>
        <p:spPr>
          <a:xfrm>
            <a:off x="6453550" y="2462022"/>
            <a:ext cx="21603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Full Convolution · p = K − 1</a:t>
            </a:r>
            <a:endParaRPr b="0" i="0" sz="1100" u="none" cap="none" strike="noStrike">
              <a:solidFill>
                <a:srgbClr val="000000"/>
              </a:solidFill>
              <a:latin typeface="Arial"/>
              <a:ea typeface="Arial"/>
              <a:cs typeface="Arial"/>
              <a:sym typeface="Arial"/>
            </a:endParaRPr>
          </a:p>
        </p:txBody>
      </p:sp>
      <p:sp>
        <p:nvSpPr>
          <p:cNvPr id="324" name="Google Shape;324;p29"/>
          <p:cNvSpPr txBox="1"/>
          <p:nvPr/>
        </p:nvSpPr>
        <p:spPr>
          <a:xfrm>
            <a:off x="6247805" y="2777490"/>
            <a:ext cx="2366100" cy="561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0" i="0" lang="en" sz="1000" u="none" cap="none" strike="noStrike">
                <a:solidFill>
                  <a:srgbClr val="0B0B0B"/>
                </a:solidFill>
                <a:latin typeface="Calibri"/>
                <a:ea typeface="Calibri"/>
                <a:cs typeface="Calibri"/>
                <a:sym typeface="Calibri"/>
              </a:rPr>
              <a:t>Full Convolution is convolution computed at every position where the kernel overlaps the image at all.</a:t>
            </a:r>
            <a:endParaRPr b="0" i="0" sz="1100" u="none" cap="none" strike="noStrike">
              <a:solidFill>
                <a:srgbClr val="000000"/>
              </a:solidFill>
              <a:latin typeface="Arial"/>
              <a:ea typeface="Arial"/>
              <a:cs typeface="Arial"/>
              <a:sym typeface="Arial"/>
            </a:endParaRPr>
          </a:p>
        </p:txBody>
      </p:sp>
      <p:sp>
        <p:nvSpPr>
          <p:cNvPr id="325" name="Google Shape;325;p29"/>
          <p:cNvSpPr txBox="1"/>
          <p:nvPr/>
        </p:nvSpPr>
        <p:spPr>
          <a:xfrm>
            <a:off x="6247805" y="3435858"/>
            <a:ext cx="2366073"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Output: N + K − 1   (grows)</a:t>
            </a:r>
            <a:endParaRPr b="0" i="0" sz="1100" u="none" cap="none" strike="noStrike">
              <a:solidFill>
                <a:srgbClr val="000000"/>
              </a:solidFill>
              <a:latin typeface="Arial"/>
              <a:ea typeface="Arial"/>
              <a:cs typeface="Arial"/>
              <a:sym typeface="Arial"/>
            </a:endParaRPr>
          </a:p>
        </p:txBody>
      </p:sp>
      <p:sp>
        <p:nvSpPr>
          <p:cNvPr id="326" name="Google Shape;326;p29"/>
          <p:cNvSpPr txBox="1"/>
          <p:nvPr/>
        </p:nvSpPr>
        <p:spPr>
          <a:xfrm>
            <a:off x="6247805" y="3669030"/>
            <a:ext cx="23661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898781"/>
                </a:solidFill>
                <a:latin typeface="Calibri"/>
                <a:ea typeface="Calibri"/>
                <a:cs typeface="Calibri"/>
                <a:sym typeface="Calibri"/>
              </a:rPr>
              <a:t>Padding: any (e.g. zero, reflection)</a:t>
            </a:r>
            <a:endParaRPr b="0" i="0" sz="1100" u="none" cap="none" strike="noStrike">
              <a:solidFill>
                <a:srgbClr val="000000"/>
              </a:solidFill>
              <a:latin typeface="Arial"/>
              <a:ea typeface="Arial"/>
              <a:cs typeface="Arial"/>
              <a:sym typeface="Arial"/>
            </a:endParaRPr>
          </a:p>
        </p:txBody>
      </p:sp>
      <p:sp>
        <p:nvSpPr>
          <p:cNvPr id="327" name="Google Shape;327;p29"/>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8" name="Google Shape;328;p29"/>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9" name="Google Shape;329;p29"/>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0" name="Google Shape;330;p29"/>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331" name="Google Shape;331;p29"/>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5 / 11</a:t>
            </a:r>
            <a:endParaRPr b="0" i="0" sz="1100" u="none" cap="none" strike="noStrike">
              <a:solidFill>
                <a:srgbClr val="000000"/>
              </a:solidFill>
              <a:latin typeface="Arial"/>
              <a:ea typeface="Arial"/>
              <a:cs typeface="Arial"/>
              <a:sym typeface="Arial"/>
            </a:endParaRPr>
          </a:p>
        </p:txBody>
      </p:sp>
      <p:pic>
        <p:nvPicPr>
          <p:cNvPr descr="pad_example_valid.png" id="332" name="Google Shape;332;p29"/>
          <p:cNvPicPr preferRelativeResize="0"/>
          <p:nvPr/>
        </p:nvPicPr>
        <p:blipFill rotWithShape="1">
          <a:blip r:embed="rId3">
            <a:alphaModFix/>
          </a:blip>
          <a:srcRect b="0" l="0" r="0" t="0"/>
          <a:stretch/>
        </p:blipFill>
        <p:spPr>
          <a:xfrm>
            <a:off x="719650" y="4275758"/>
            <a:ext cx="535151" cy="535151"/>
          </a:xfrm>
          <a:prstGeom prst="rect">
            <a:avLst/>
          </a:prstGeom>
          <a:noFill/>
          <a:ln>
            <a:noFill/>
          </a:ln>
        </p:spPr>
      </p:pic>
      <p:sp>
        <p:nvSpPr>
          <p:cNvPr id="333" name="Google Shape;333;p29"/>
          <p:cNvSpPr txBox="1"/>
          <p:nvPr/>
        </p:nvSpPr>
        <p:spPr>
          <a:xfrm>
            <a:off x="1442316" y="4397233"/>
            <a:ext cx="1301400" cy="289800"/>
          </a:xfrm>
          <a:prstGeom prst="rect">
            <a:avLst/>
          </a:prstGeom>
          <a:noFill/>
          <a:ln>
            <a:noFill/>
          </a:ln>
        </p:spPr>
        <p:txBody>
          <a:bodyPr anchorCtr="0" anchor="t" bIns="52075" lIns="104175" spcFirstLastPara="1" rIns="104175" wrap="square" tIns="52075">
            <a:spAutoFit/>
          </a:bodyPr>
          <a:lstStyle/>
          <a:p>
            <a:pPr indent="0" lvl="0" marL="0" marR="0" rtl="0" algn="l">
              <a:lnSpc>
                <a:spcPct val="110000"/>
              </a:lnSpc>
              <a:spcBef>
                <a:spcPts val="0"/>
              </a:spcBef>
              <a:spcAft>
                <a:spcPts val="0"/>
              </a:spcAft>
              <a:buClr>
                <a:srgbClr val="000000"/>
              </a:buClr>
              <a:buSzPts val="1200"/>
              <a:buFont typeface="Arial"/>
              <a:buNone/>
            </a:pPr>
            <a:r>
              <a:rPr b="0" i="0" lang="en" sz="1200" u="none" cap="none" strike="noStrike">
                <a:solidFill>
                  <a:srgbClr val="52514E"/>
                </a:solidFill>
                <a:latin typeface="Calibri"/>
                <a:ea typeface="Calibri"/>
                <a:cs typeface="Calibri"/>
                <a:sym typeface="Calibri"/>
              </a:rPr>
              <a:t>K = 3  →  p = 0</a:t>
            </a:r>
            <a:endParaRPr b="0" i="0" sz="1200" u="none" cap="none" strike="noStrike">
              <a:solidFill>
                <a:srgbClr val="000000"/>
              </a:solidFill>
              <a:latin typeface="Calibri"/>
              <a:ea typeface="Calibri"/>
              <a:cs typeface="Calibri"/>
              <a:sym typeface="Calibri"/>
            </a:endParaRPr>
          </a:p>
        </p:txBody>
      </p:sp>
      <p:pic>
        <p:nvPicPr>
          <p:cNvPr descr="pad_example_same.png" id="334" name="Google Shape;334;p29"/>
          <p:cNvPicPr preferRelativeResize="0"/>
          <p:nvPr/>
        </p:nvPicPr>
        <p:blipFill rotWithShape="1">
          <a:blip r:embed="rId4">
            <a:alphaModFix/>
          </a:blip>
          <a:srcRect b="0" l="0" r="0" t="0"/>
          <a:stretch/>
        </p:blipFill>
        <p:spPr>
          <a:xfrm>
            <a:off x="3627689" y="4225184"/>
            <a:ext cx="636299" cy="636299"/>
          </a:xfrm>
          <a:prstGeom prst="rect">
            <a:avLst/>
          </a:prstGeom>
          <a:noFill/>
          <a:ln>
            <a:noFill/>
          </a:ln>
        </p:spPr>
      </p:pic>
      <p:sp>
        <p:nvSpPr>
          <p:cNvPr id="335" name="Google Shape;335;p29"/>
          <p:cNvSpPr txBox="1"/>
          <p:nvPr/>
        </p:nvSpPr>
        <p:spPr>
          <a:xfrm>
            <a:off x="4433350" y="4411333"/>
            <a:ext cx="1137900" cy="279600"/>
          </a:xfrm>
          <a:prstGeom prst="rect">
            <a:avLst/>
          </a:prstGeom>
          <a:noFill/>
          <a:ln>
            <a:noFill/>
          </a:ln>
        </p:spPr>
        <p:txBody>
          <a:bodyPr anchorCtr="0" anchor="t" bIns="47025" lIns="94100" spcFirstLastPara="1" rIns="94100" wrap="square" tIns="47025">
            <a:spAutoFit/>
          </a:bodyPr>
          <a:lstStyle/>
          <a:p>
            <a:pPr indent="0" lvl="0" marL="0" marR="0" rtl="0" algn="l">
              <a:lnSpc>
                <a:spcPct val="110000"/>
              </a:lnSpc>
              <a:spcBef>
                <a:spcPts val="0"/>
              </a:spcBef>
              <a:spcAft>
                <a:spcPts val="0"/>
              </a:spcAft>
              <a:buClr>
                <a:srgbClr val="000000"/>
              </a:buClr>
              <a:buSzPts val="1200"/>
              <a:buFont typeface="Arial"/>
              <a:buNone/>
            </a:pPr>
            <a:r>
              <a:rPr b="0" i="0" lang="en" sz="1200" u="none" cap="none" strike="noStrike">
                <a:solidFill>
                  <a:srgbClr val="52514E"/>
                </a:solidFill>
                <a:latin typeface="Calibri"/>
                <a:ea typeface="Calibri"/>
                <a:cs typeface="Calibri"/>
                <a:sym typeface="Calibri"/>
              </a:rPr>
              <a:t>K = 3  →  p = 1</a:t>
            </a:r>
            <a:endParaRPr b="0" i="0" sz="1200" u="none" cap="none" strike="noStrike">
              <a:solidFill>
                <a:srgbClr val="000000"/>
              </a:solidFill>
              <a:latin typeface="Calibri"/>
              <a:ea typeface="Calibri"/>
              <a:cs typeface="Calibri"/>
              <a:sym typeface="Calibri"/>
            </a:endParaRPr>
          </a:p>
        </p:txBody>
      </p:sp>
      <p:pic>
        <p:nvPicPr>
          <p:cNvPr descr="pad_example_full.png" id="336" name="Google Shape;336;p29"/>
          <p:cNvPicPr preferRelativeResize="0"/>
          <p:nvPr/>
        </p:nvPicPr>
        <p:blipFill rotWithShape="1">
          <a:blip r:embed="rId5">
            <a:alphaModFix/>
          </a:blip>
          <a:srcRect b="0" l="0" r="0" t="0"/>
          <a:stretch/>
        </p:blipFill>
        <p:spPr>
          <a:xfrm>
            <a:off x="6330109" y="4132426"/>
            <a:ext cx="821814" cy="821814"/>
          </a:xfrm>
          <a:prstGeom prst="rect">
            <a:avLst/>
          </a:prstGeom>
          <a:noFill/>
          <a:ln>
            <a:noFill/>
          </a:ln>
        </p:spPr>
      </p:pic>
      <p:sp>
        <p:nvSpPr>
          <p:cNvPr id="337" name="Google Shape;337;p29"/>
          <p:cNvSpPr txBox="1"/>
          <p:nvPr/>
        </p:nvSpPr>
        <p:spPr>
          <a:xfrm>
            <a:off x="7328813" y="4405483"/>
            <a:ext cx="1161600" cy="283800"/>
          </a:xfrm>
          <a:prstGeom prst="rect">
            <a:avLst/>
          </a:prstGeom>
          <a:noFill/>
          <a:ln>
            <a:noFill/>
          </a:ln>
        </p:spPr>
        <p:txBody>
          <a:bodyPr anchorCtr="0" anchor="t" bIns="49125" lIns="98250" spcFirstLastPara="1" rIns="98250" wrap="square" tIns="49125">
            <a:spAutoFit/>
          </a:bodyPr>
          <a:lstStyle/>
          <a:p>
            <a:pPr indent="0" lvl="0" marL="0" marR="0" rtl="0" algn="l">
              <a:lnSpc>
                <a:spcPct val="110000"/>
              </a:lnSpc>
              <a:spcBef>
                <a:spcPts val="0"/>
              </a:spcBef>
              <a:spcAft>
                <a:spcPts val="0"/>
              </a:spcAft>
              <a:buClr>
                <a:srgbClr val="000000"/>
              </a:buClr>
              <a:buSzPts val="1200"/>
              <a:buFont typeface="Arial"/>
              <a:buNone/>
            </a:pPr>
            <a:r>
              <a:rPr b="0" i="0" lang="en" sz="1200" u="none" cap="none" strike="noStrike">
                <a:solidFill>
                  <a:srgbClr val="52514E"/>
                </a:solidFill>
                <a:latin typeface="Calibri"/>
                <a:ea typeface="Calibri"/>
                <a:cs typeface="Calibri"/>
                <a:sym typeface="Calibri"/>
              </a:rPr>
              <a:t>K = 3  →  p = 2</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0"/>
          <p:cNvSpPr/>
          <p:nvPr/>
        </p:nvSpPr>
        <p:spPr>
          <a:xfrm>
            <a:off x="0" y="0"/>
            <a:ext cx="9144015" cy="5143500"/>
          </a:xfrm>
          <a:prstGeom prst="rect">
            <a:avLst/>
          </a:prstGeom>
          <a:solidFill>
            <a:srgbClr val="F2F7F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4" name="Google Shape;344;p30"/>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5" name="Google Shape;345;p30"/>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6" name="Google Shape;346;p30"/>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7" name="Google Shape;347;p30"/>
          <p:cNvSpPr/>
          <p:nvPr/>
        </p:nvSpPr>
        <p:spPr>
          <a:xfrm>
            <a:off x="8394416" y="20574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8" name="Google Shape;348;p30"/>
          <p:cNvSpPr/>
          <p:nvPr/>
        </p:nvSpPr>
        <p:spPr>
          <a:xfrm>
            <a:off x="8497289" y="20574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9" name="Google Shape;349;p30"/>
          <p:cNvSpPr/>
          <p:nvPr/>
        </p:nvSpPr>
        <p:spPr>
          <a:xfrm>
            <a:off x="8600161" y="20574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0" name="Google Shape;350;p30"/>
          <p:cNvSpPr/>
          <p:nvPr/>
        </p:nvSpPr>
        <p:spPr>
          <a:xfrm>
            <a:off x="8394416" y="308609"/>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1" name="Google Shape;351;p30"/>
          <p:cNvSpPr/>
          <p:nvPr/>
        </p:nvSpPr>
        <p:spPr>
          <a:xfrm>
            <a:off x="8497289" y="308609"/>
            <a:ext cx="78869" cy="78867"/>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2" name="Google Shape;352;p30"/>
          <p:cNvSpPr/>
          <p:nvPr/>
        </p:nvSpPr>
        <p:spPr>
          <a:xfrm>
            <a:off x="8600161" y="308609"/>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3" name="Google Shape;353;p30"/>
          <p:cNvSpPr/>
          <p:nvPr/>
        </p:nvSpPr>
        <p:spPr>
          <a:xfrm>
            <a:off x="8394416" y="41148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4" name="Google Shape;354;p30"/>
          <p:cNvSpPr/>
          <p:nvPr/>
        </p:nvSpPr>
        <p:spPr>
          <a:xfrm>
            <a:off x="8497289" y="41148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5" name="Google Shape;355;p30"/>
          <p:cNvSpPr/>
          <p:nvPr/>
        </p:nvSpPr>
        <p:spPr>
          <a:xfrm>
            <a:off x="8600161" y="411480"/>
            <a:ext cx="78869" cy="78867"/>
          </a:xfrm>
          <a:prstGeom prst="rect">
            <a:avLst/>
          </a:prstGeom>
          <a:solidFill>
            <a:srgbClr val="BFD6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6" name="Google Shape;356;p30"/>
          <p:cNvSpPr/>
          <p:nvPr/>
        </p:nvSpPr>
        <p:spPr>
          <a:xfrm>
            <a:off x="377200" y="164592"/>
            <a:ext cx="1574638" cy="233172"/>
          </a:xfrm>
          <a:prstGeom prst="roundRect">
            <a:avLst>
              <a:gd fmla="val 16667" name="adj"/>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Calibri"/>
                <a:ea typeface="Calibri"/>
                <a:cs typeface="Calibri"/>
                <a:sym typeface="Calibri"/>
              </a:rPr>
              <a:t>MODE 1 OF 3 — VALID</a:t>
            </a:r>
            <a:endParaRPr b="0" i="0" sz="1100" u="none" cap="none" strike="noStrike">
              <a:solidFill>
                <a:srgbClr val="000000"/>
              </a:solidFill>
              <a:latin typeface="Arial"/>
              <a:ea typeface="Arial"/>
              <a:cs typeface="Arial"/>
              <a:sym typeface="Arial"/>
            </a:endParaRPr>
          </a:p>
        </p:txBody>
      </p:sp>
      <p:sp>
        <p:nvSpPr>
          <p:cNvPr id="357" name="Google Shape;357;p30"/>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Valid Convolution – when would we use it? → 1 Possible Example: Zoom!</a:t>
            </a:r>
            <a:endParaRPr b="0" i="0" sz="1100" u="none" cap="none" strike="noStrike">
              <a:solidFill>
                <a:srgbClr val="000000"/>
              </a:solidFill>
              <a:latin typeface="Arial"/>
              <a:ea typeface="Arial"/>
              <a:cs typeface="Arial"/>
              <a:sym typeface="Arial"/>
            </a:endParaRPr>
          </a:p>
        </p:txBody>
      </p:sp>
      <p:sp>
        <p:nvSpPr>
          <p:cNvPr id="358" name="Google Shape;358;p30"/>
          <p:cNvSpPr/>
          <p:nvPr/>
        </p:nvSpPr>
        <p:spPr>
          <a:xfrm>
            <a:off x="377200" y="877824"/>
            <a:ext cx="754400" cy="24003"/>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9" name="Google Shape;359;p30"/>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0" name="Google Shape;360;p30"/>
          <p:cNvSpPr/>
          <p:nvPr/>
        </p:nvSpPr>
        <p:spPr>
          <a:xfrm>
            <a:off x="377325" y="987550"/>
            <a:ext cx="8389500" cy="44310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1" name="Google Shape;361;p30"/>
          <p:cNvSpPr/>
          <p:nvPr/>
        </p:nvSpPr>
        <p:spPr>
          <a:xfrm>
            <a:off x="413849" y="1056123"/>
            <a:ext cx="52500" cy="277500"/>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2" name="Google Shape;362;p30"/>
          <p:cNvSpPr txBox="1"/>
          <p:nvPr/>
        </p:nvSpPr>
        <p:spPr>
          <a:xfrm>
            <a:off x="435050" y="1007200"/>
            <a:ext cx="8288700" cy="3771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B0B0B"/>
                </a:solidFill>
                <a:latin typeface="Calibri"/>
                <a:ea typeface="Calibri"/>
                <a:cs typeface="Calibri"/>
                <a:sym typeface="Calibri"/>
              </a:rPr>
              <a:t>Recall valid convolution (no padding) shrinks the output image and biasing against the edges. Consequently, we might use valid convolution </a:t>
            </a:r>
            <a:r>
              <a:rPr b="1" i="0" lang="en" sz="1000" u="none" cap="none" strike="noStrike">
                <a:solidFill>
                  <a:schemeClr val="dk1"/>
                </a:solidFill>
                <a:latin typeface="Calibri"/>
                <a:ea typeface="Calibri"/>
                <a:cs typeface="Calibri"/>
                <a:sym typeface="Calibri"/>
              </a:rPr>
              <a:t>when we want to (1) reduce the spatial dimensions of our data, (2) avoid padding artifacts at the edges, or (3) ensure our kernel only operates on actual input pixels.</a:t>
            </a:r>
            <a:endParaRPr b="1" i="0" sz="1000" u="none" cap="none" strike="noStrike">
              <a:solidFill>
                <a:srgbClr val="000000"/>
              </a:solidFill>
              <a:latin typeface="Calibri"/>
              <a:ea typeface="Calibri"/>
              <a:cs typeface="Calibri"/>
              <a:sym typeface="Calibri"/>
            </a:endParaRPr>
          </a:p>
        </p:txBody>
      </p:sp>
      <p:sp>
        <p:nvSpPr>
          <p:cNvPr id="363" name="Google Shape;363;p30"/>
          <p:cNvSpPr/>
          <p:nvPr/>
        </p:nvSpPr>
        <p:spPr>
          <a:xfrm>
            <a:off x="1360748" y="1496737"/>
            <a:ext cx="2090700" cy="1260900"/>
          </a:xfrm>
          <a:prstGeom prst="roundRect">
            <a:avLst>
              <a:gd fmla="val 16667" name="adj"/>
            </a:avLst>
          </a:prstGeom>
          <a:solidFill>
            <a:srgbClr val="FFFFFF"/>
          </a:solidFill>
          <a:ln cap="flat" cmpd="sng" w="9525">
            <a:solidFill>
              <a:srgbClr val="E3E1DA"/>
            </a:solidFill>
            <a:prstDash val="solid"/>
            <a:round/>
            <a:headEnd len="sm" w="sm" type="none"/>
            <a:tailEnd len="sm" w="sm" type="none"/>
          </a:ln>
        </p:spPr>
        <p:txBody>
          <a:bodyPr anchorCtr="0" anchor="ctr" bIns="15950" lIns="31925" spcFirstLastPara="1" rIns="31925" wrap="square" tIns="15950">
            <a:noAutofit/>
          </a:bodyPr>
          <a:lstStyle/>
          <a:p>
            <a:pPr indent="0" lvl="0" marL="0" marR="0" rtl="0" algn="ctr">
              <a:lnSpc>
                <a:spcPct val="100000"/>
              </a:lnSpc>
              <a:spcBef>
                <a:spcPts val="0"/>
              </a:spcBef>
              <a:spcAft>
                <a:spcPts val="0"/>
              </a:spcAft>
              <a:buClr>
                <a:srgbClr val="000000"/>
              </a:buClr>
              <a:buSzPts val="652"/>
              <a:buFont typeface="Arial"/>
              <a:buNone/>
            </a:pPr>
            <a:r>
              <a:t/>
            </a:r>
            <a:endParaRPr b="0" i="0" sz="652" u="none" cap="none" strike="noStrike">
              <a:solidFill>
                <a:schemeClr val="dk1"/>
              </a:solidFill>
              <a:latin typeface="Calibri"/>
              <a:ea typeface="Calibri"/>
              <a:cs typeface="Calibri"/>
              <a:sym typeface="Calibri"/>
            </a:endParaRPr>
          </a:p>
        </p:txBody>
      </p:sp>
      <p:pic>
        <p:nvPicPr>
          <p:cNvPr descr="grid_valid.png" id="364" name="Google Shape;364;p30"/>
          <p:cNvPicPr preferRelativeResize="0"/>
          <p:nvPr/>
        </p:nvPicPr>
        <p:blipFill rotWithShape="1">
          <a:blip r:embed="rId3">
            <a:alphaModFix/>
          </a:blip>
          <a:srcRect b="0" l="0" r="0" t="0"/>
          <a:stretch/>
        </p:blipFill>
        <p:spPr>
          <a:xfrm>
            <a:off x="1573289" y="1541420"/>
            <a:ext cx="1665449" cy="1171329"/>
          </a:xfrm>
          <a:prstGeom prst="rect">
            <a:avLst/>
          </a:prstGeom>
          <a:noFill/>
          <a:ln>
            <a:noFill/>
          </a:ln>
        </p:spPr>
      </p:pic>
      <p:sp>
        <p:nvSpPr>
          <p:cNvPr id="365" name="Google Shape;365;p30"/>
          <p:cNvSpPr/>
          <p:nvPr/>
        </p:nvSpPr>
        <p:spPr>
          <a:xfrm>
            <a:off x="4594000" y="1784263"/>
            <a:ext cx="4072200" cy="685800"/>
          </a:xfrm>
          <a:prstGeom prst="roundRect">
            <a:avLst>
              <a:gd fmla="val 16667" name="adj"/>
            </a:avLst>
          </a:prstGeom>
          <a:solidFill>
            <a:srgbClr val="E1ECF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6" name="Google Shape;366;p30"/>
          <p:cNvSpPr/>
          <p:nvPr/>
        </p:nvSpPr>
        <p:spPr>
          <a:xfrm>
            <a:off x="4639245" y="1845985"/>
            <a:ext cx="52500" cy="56250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7" name="Google Shape;367;p30"/>
          <p:cNvSpPr txBox="1"/>
          <p:nvPr/>
        </p:nvSpPr>
        <p:spPr>
          <a:xfrm>
            <a:off x="4733650" y="1913188"/>
            <a:ext cx="3990000" cy="4281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chemeClr val="dk1"/>
              </a:buClr>
              <a:buSzPts val="1100"/>
              <a:buFont typeface="Arial"/>
              <a:buNone/>
            </a:pPr>
            <a:r>
              <a:rPr b="1" i="0" lang="en" sz="1100" u="none" cap="none" strike="noStrike">
                <a:solidFill>
                  <a:srgbClr val="273239"/>
                </a:solidFill>
                <a:latin typeface="Calibri"/>
                <a:ea typeface="Calibri"/>
                <a:cs typeface="Calibri"/>
                <a:sym typeface="Calibri"/>
              </a:rPr>
              <a:t>Valid padding applies convolution without adding any extra pixels, so the output becomes smaller than the input.</a:t>
            </a:r>
            <a:endParaRPr b="1" i="0" sz="1100" u="none" cap="none" strike="noStrike">
              <a:solidFill>
                <a:srgbClr val="000000"/>
              </a:solidFill>
              <a:latin typeface="Calibri"/>
              <a:ea typeface="Calibri"/>
              <a:cs typeface="Calibri"/>
              <a:sym typeface="Calibri"/>
            </a:endParaRPr>
          </a:p>
        </p:txBody>
      </p:sp>
      <p:sp>
        <p:nvSpPr>
          <p:cNvPr id="368" name="Google Shape;368;p30"/>
          <p:cNvSpPr/>
          <p:nvPr/>
        </p:nvSpPr>
        <p:spPr>
          <a:xfrm>
            <a:off x="218198" y="2858823"/>
            <a:ext cx="4375800" cy="1539300"/>
          </a:xfrm>
          <a:prstGeom prst="roundRect">
            <a:avLst>
              <a:gd fmla="val 16667" name="adj"/>
            </a:avLst>
          </a:prstGeom>
          <a:solidFill>
            <a:srgbClr val="FFFFFF"/>
          </a:solidFill>
          <a:ln cap="flat" cmpd="sng" w="15000">
            <a:solidFill>
              <a:srgbClr val="E3E1DA"/>
            </a:solidFill>
            <a:prstDash val="solid"/>
            <a:round/>
            <a:headEnd len="sm" w="sm" type="none"/>
            <a:tailEnd len="sm" w="sm" type="none"/>
          </a:ln>
        </p:spPr>
        <p:txBody>
          <a:bodyPr anchorCtr="0" anchor="ctr" bIns="40500" lIns="81025" spcFirstLastPara="1" rIns="81025" wrap="square" tIns="40500">
            <a:noAutofit/>
          </a:bodyPr>
          <a:lstStyle/>
          <a:p>
            <a:pPr indent="0" lvl="0" marL="0" marR="0" rtl="0" algn="ctr">
              <a:lnSpc>
                <a:spcPct val="100000"/>
              </a:lnSpc>
              <a:spcBef>
                <a:spcPts val="0"/>
              </a:spcBef>
              <a:spcAft>
                <a:spcPts val="0"/>
              </a:spcAft>
              <a:buClr>
                <a:srgbClr val="000000"/>
              </a:buClr>
              <a:buSzPts val="1654"/>
              <a:buFont typeface="Arial"/>
              <a:buNone/>
            </a:pPr>
            <a:r>
              <a:t/>
            </a:r>
            <a:endParaRPr b="0" i="0" sz="1654" u="none" cap="none" strike="noStrike">
              <a:solidFill>
                <a:schemeClr val="dk1"/>
              </a:solidFill>
              <a:latin typeface="Calibri"/>
              <a:ea typeface="Calibri"/>
              <a:cs typeface="Calibri"/>
              <a:sym typeface="Calibri"/>
            </a:endParaRPr>
          </a:p>
        </p:txBody>
      </p:sp>
      <p:sp>
        <p:nvSpPr>
          <p:cNvPr id="369" name="Google Shape;369;p30"/>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0" name="Google Shape;370;p30"/>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1" name="Google Shape;371;p30"/>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2" name="Google Shape;372;p30"/>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373" name="Google Shape;373;p30"/>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6 / 11</a:t>
            </a:r>
            <a:endParaRPr b="0" i="0" sz="1100" u="none" cap="none" strike="noStrike">
              <a:solidFill>
                <a:srgbClr val="000000"/>
              </a:solidFill>
              <a:latin typeface="Arial"/>
              <a:ea typeface="Arial"/>
              <a:cs typeface="Arial"/>
              <a:sym typeface="Arial"/>
            </a:endParaRPr>
          </a:p>
        </p:txBody>
      </p:sp>
      <p:sp>
        <p:nvSpPr>
          <p:cNvPr id="374" name="Google Shape;374;p30"/>
          <p:cNvSpPr txBox="1"/>
          <p:nvPr/>
        </p:nvSpPr>
        <p:spPr>
          <a:xfrm>
            <a:off x="418350" y="2964252"/>
            <a:ext cx="3183300" cy="203400"/>
          </a:xfrm>
          <a:prstGeom prst="rect">
            <a:avLst/>
          </a:prstGeom>
          <a:noFill/>
          <a:ln>
            <a:noFill/>
          </a:ln>
        </p:spPr>
        <p:txBody>
          <a:bodyPr anchorCtr="0" anchor="t" bIns="39775" lIns="79575" spcFirstLastPara="1" rIns="79575" wrap="square" tIns="397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2A78D6"/>
                </a:solidFill>
                <a:latin typeface="Calibri"/>
                <a:ea typeface="Calibri"/>
                <a:cs typeface="Calibri"/>
                <a:sym typeface="Calibri"/>
              </a:rPr>
              <a:t>EXAMPLE — ZOOM BACKGROUND BLUR</a:t>
            </a:r>
            <a:endParaRPr b="0" i="0" sz="800" u="none" cap="none" strike="noStrike">
              <a:solidFill>
                <a:srgbClr val="000000"/>
              </a:solidFill>
              <a:latin typeface="Calibri"/>
              <a:ea typeface="Calibri"/>
              <a:cs typeface="Calibri"/>
              <a:sym typeface="Calibri"/>
            </a:endParaRPr>
          </a:p>
        </p:txBody>
      </p:sp>
      <p:pic>
        <p:nvPicPr>
          <p:cNvPr descr="example_zoom.png" id="375" name="Google Shape;375;p30"/>
          <p:cNvPicPr preferRelativeResize="0"/>
          <p:nvPr/>
        </p:nvPicPr>
        <p:blipFill rotWithShape="1">
          <a:blip r:embed="rId4">
            <a:alphaModFix/>
          </a:blip>
          <a:srcRect b="0" l="0" r="0" t="0"/>
          <a:stretch/>
        </p:blipFill>
        <p:spPr>
          <a:xfrm>
            <a:off x="435062" y="3226867"/>
            <a:ext cx="1757136" cy="1098210"/>
          </a:xfrm>
          <a:prstGeom prst="rect">
            <a:avLst/>
          </a:prstGeom>
          <a:noFill/>
          <a:ln>
            <a:noFill/>
          </a:ln>
        </p:spPr>
      </p:pic>
      <p:sp>
        <p:nvSpPr>
          <p:cNvPr id="376" name="Google Shape;376;p30"/>
          <p:cNvSpPr txBox="1"/>
          <p:nvPr/>
        </p:nvSpPr>
        <p:spPr>
          <a:xfrm>
            <a:off x="2354833" y="3376383"/>
            <a:ext cx="2069100" cy="694800"/>
          </a:xfrm>
          <a:prstGeom prst="rect">
            <a:avLst/>
          </a:prstGeom>
          <a:noFill/>
          <a:ln>
            <a:noFill/>
          </a:ln>
        </p:spPr>
        <p:txBody>
          <a:bodyPr anchorCtr="0" anchor="t" bIns="39775" lIns="79575" spcFirstLastPara="1" rIns="79575" wrap="square" tIns="39775">
            <a:spAutoFit/>
          </a:bodyPr>
          <a:lstStyle/>
          <a:p>
            <a:pPr indent="0" lvl="0" marL="0" marR="0" rtl="0" algn="l">
              <a:lnSpc>
                <a:spcPct val="110000"/>
              </a:lnSpc>
              <a:spcBef>
                <a:spcPts val="0"/>
              </a:spcBef>
              <a:spcAft>
                <a:spcPts val="0"/>
              </a:spcAft>
              <a:buClr>
                <a:srgbClr val="000000"/>
              </a:buClr>
              <a:buSzPts val="928"/>
              <a:buFont typeface="Arial"/>
              <a:buNone/>
            </a:pPr>
            <a:r>
              <a:rPr b="0" i="1" lang="en" sz="928" u="none" cap="none" strike="noStrike">
                <a:solidFill>
                  <a:srgbClr val="0B0B0B"/>
                </a:solidFill>
                <a:latin typeface="Calibri"/>
                <a:ea typeface="Calibri"/>
                <a:cs typeface="Calibri"/>
                <a:sym typeface="Calibri"/>
              </a:rPr>
              <a:t>It’s plausible that Zoom does valid convolution with a blur filter and no padding and displays a video stream that is slightly smaller and biased!</a:t>
            </a:r>
            <a:endParaRPr b="0" i="1" sz="1276" u="none" cap="none" strike="noStrike">
              <a:solidFill>
                <a:srgbClr val="000000"/>
              </a:solidFill>
              <a:latin typeface="Arial"/>
              <a:ea typeface="Arial"/>
              <a:cs typeface="Arial"/>
              <a:sym typeface="Arial"/>
            </a:endParaRPr>
          </a:p>
        </p:txBody>
      </p:sp>
      <p:sp>
        <p:nvSpPr>
          <p:cNvPr id="377" name="Google Shape;377;p30"/>
          <p:cNvSpPr txBox="1"/>
          <p:nvPr/>
        </p:nvSpPr>
        <p:spPr>
          <a:xfrm>
            <a:off x="4834900" y="2623225"/>
            <a:ext cx="3990000" cy="1977300"/>
          </a:xfrm>
          <a:prstGeom prst="rect">
            <a:avLst/>
          </a:prstGeom>
          <a:noFill/>
          <a:ln>
            <a:noFill/>
          </a:ln>
        </p:spPr>
        <p:txBody>
          <a:bodyPr anchorCtr="0" anchor="t" bIns="91425" lIns="91425" spcFirstLastPara="1" rIns="91425" wrap="square" tIns="91425">
            <a:spAutoFit/>
          </a:bodyPr>
          <a:lstStyle/>
          <a:p>
            <a:pPr indent="0" lvl="0" marL="0" marR="0" rtl="0" algn="l">
              <a:lnSpc>
                <a:spcPct val="112000"/>
              </a:lnSpc>
              <a:spcBef>
                <a:spcPts val="0"/>
              </a:spcBef>
              <a:spcAft>
                <a:spcPts val="0"/>
              </a:spcAft>
              <a:buClr>
                <a:schemeClr val="dk1"/>
              </a:buClr>
              <a:buSzPts val="900"/>
              <a:buFont typeface="Arial"/>
              <a:buNone/>
            </a:pPr>
            <a:r>
              <a:rPr b="1" i="0" lang="en" sz="900" u="none" cap="none" strike="noStrike">
                <a:solidFill>
                  <a:srgbClr val="2A78D6"/>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Advantages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Nothing is made up — every output value comes from 100% real pixels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The output gets smaller — sometimes that's exactly what we want (less data to process)</a:t>
            </a:r>
            <a:endParaRPr b="0" i="0" sz="1100" u="none" cap="none" strike="noStrike">
              <a:solidFill>
                <a:schemeClr val="dk1"/>
              </a:solidFill>
              <a:latin typeface="Arial"/>
              <a:ea typeface="Arial"/>
              <a:cs typeface="Arial"/>
              <a:sym typeface="Arial"/>
            </a:endParaRPr>
          </a:p>
          <a:p>
            <a:pPr indent="0" lvl="0" marL="0" marR="0" rtl="0" algn="l">
              <a:lnSpc>
                <a:spcPct val="112000"/>
              </a:lnSpc>
              <a:spcBef>
                <a:spcPts val="300"/>
              </a:spcBef>
              <a:spcAft>
                <a:spcPts val="0"/>
              </a:spcAft>
              <a:buClr>
                <a:schemeClr val="dk1"/>
              </a:buClr>
              <a:buSzPts val="900"/>
              <a:buFont typeface="Arial"/>
              <a:buNone/>
            </a:pPr>
            <a:r>
              <a:rPr b="1" i="0" lang="en" sz="900" u="none" cap="none" strike="noStrike">
                <a:solidFill>
                  <a:srgbClr val="2A78D6"/>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Limitations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We lose the borders — the output shrinks by K−1 every single pass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Edge pixels influence the output less</a:t>
            </a:r>
            <a:endParaRPr b="0" i="0" sz="1100" u="none" cap="none" strike="noStrike">
              <a:solidFill>
                <a:schemeClr val="dk1"/>
              </a:solidFill>
              <a:latin typeface="Arial"/>
              <a:ea typeface="Arial"/>
              <a:cs typeface="Arial"/>
              <a:sym typeface="Arial"/>
            </a:endParaRPr>
          </a:p>
          <a:p>
            <a:pPr indent="0" lvl="0" marL="0" marR="0" rtl="0" algn="l">
              <a:lnSpc>
                <a:spcPct val="112000"/>
              </a:lnSpc>
              <a:spcBef>
                <a:spcPts val="300"/>
              </a:spcBef>
              <a:spcAft>
                <a:spcPts val="0"/>
              </a:spcAft>
              <a:buClr>
                <a:schemeClr val="dk1"/>
              </a:buClr>
              <a:buSzPts val="900"/>
              <a:buFont typeface="Arial"/>
              <a:buNone/>
            </a:pPr>
            <a:r>
              <a:rPr b="1" i="0" lang="en" sz="900" u="none" cap="none" strike="noStrike">
                <a:solidFill>
                  <a:srgbClr val="2A78D6"/>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Other examples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Template matching — match scores have to come from real pixels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Autofocus — sharpness scores from gradient statistics</a:t>
            </a:r>
            <a:endParaRPr b="0" i="0" sz="1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100"/>
              <a:buFont typeface="Arial"/>
              <a:buNone/>
            </a:pPr>
            <a:r>
              <a:t/>
            </a:r>
            <a:endParaRPr b="1" i="0" sz="1100" u="none" cap="none" strike="noStrike">
              <a:solidFill>
                <a:srgbClr val="2A78D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1"/>
          <p:cNvSpPr/>
          <p:nvPr/>
        </p:nvSpPr>
        <p:spPr>
          <a:xfrm>
            <a:off x="0" y="0"/>
            <a:ext cx="9144015" cy="5143500"/>
          </a:xfrm>
          <a:prstGeom prst="rect">
            <a:avLst/>
          </a:prstGeom>
          <a:solidFill>
            <a:srgbClr val="FEF8E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4" name="Google Shape;384;p31"/>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5" name="Google Shape;385;p31"/>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6" name="Google Shape;386;p31"/>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7" name="Google Shape;387;p31"/>
          <p:cNvSpPr/>
          <p:nvPr/>
        </p:nvSpPr>
        <p:spPr>
          <a:xfrm>
            <a:off x="8394416" y="20574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8" name="Google Shape;388;p31"/>
          <p:cNvSpPr/>
          <p:nvPr/>
        </p:nvSpPr>
        <p:spPr>
          <a:xfrm>
            <a:off x="8497289" y="20574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9" name="Google Shape;389;p31"/>
          <p:cNvSpPr/>
          <p:nvPr/>
        </p:nvSpPr>
        <p:spPr>
          <a:xfrm>
            <a:off x="8600161" y="20574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0" name="Google Shape;390;p31"/>
          <p:cNvSpPr/>
          <p:nvPr/>
        </p:nvSpPr>
        <p:spPr>
          <a:xfrm>
            <a:off x="8394416" y="308609"/>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1" name="Google Shape;391;p31"/>
          <p:cNvSpPr/>
          <p:nvPr/>
        </p:nvSpPr>
        <p:spPr>
          <a:xfrm>
            <a:off x="8497289" y="308609"/>
            <a:ext cx="78869" cy="78867"/>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2" name="Google Shape;392;p31"/>
          <p:cNvSpPr/>
          <p:nvPr/>
        </p:nvSpPr>
        <p:spPr>
          <a:xfrm>
            <a:off x="8600161" y="308609"/>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3" name="Google Shape;393;p31"/>
          <p:cNvSpPr/>
          <p:nvPr/>
        </p:nvSpPr>
        <p:spPr>
          <a:xfrm>
            <a:off x="8394416" y="41148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4" name="Google Shape;394;p31"/>
          <p:cNvSpPr/>
          <p:nvPr/>
        </p:nvSpPr>
        <p:spPr>
          <a:xfrm>
            <a:off x="8497289" y="41148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5" name="Google Shape;395;p31"/>
          <p:cNvSpPr/>
          <p:nvPr/>
        </p:nvSpPr>
        <p:spPr>
          <a:xfrm>
            <a:off x="8600161" y="411480"/>
            <a:ext cx="78869" cy="78867"/>
          </a:xfrm>
          <a:prstGeom prst="rect">
            <a:avLst/>
          </a:prstGeom>
          <a:solidFill>
            <a:srgbClr val="FAE3B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6" name="Google Shape;396;p31"/>
          <p:cNvSpPr/>
          <p:nvPr/>
        </p:nvSpPr>
        <p:spPr>
          <a:xfrm>
            <a:off x="377200" y="164592"/>
            <a:ext cx="1503313" cy="233172"/>
          </a:xfrm>
          <a:prstGeom prst="roundRect">
            <a:avLst>
              <a:gd fmla="val 16667" name="adj"/>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B0B0B"/>
                </a:solidFill>
                <a:latin typeface="Calibri"/>
                <a:ea typeface="Calibri"/>
                <a:cs typeface="Calibri"/>
                <a:sym typeface="Calibri"/>
              </a:rPr>
              <a:t>MODE 2 OF 3 — SAME</a:t>
            </a:r>
            <a:endParaRPr b="0" i="0" sz="1100" u="none" cap="none" strike="noStrike">
              <a:solidFill>
                <a:srgbClr val="000000"/>
              </a:solidFill>
              <a:latin typeface="Arial"/>
              <a:ea typeface="Arial"/>
              <a:cs typeface="Arial"/>
              <a:sym typeface="Arial"/>
            </a:endParaRPr>
          </a:p>
        </p:txBody>
      </p:sp>
      <p:sp>
        <p:nvSpPr>
          <p:cNvPr id="397" name="Google Shape;397;p31"/>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Same Convolution – when would we use it? → 1 Example: Video games!</a:t>
            </a:r>
            <a:endParaRPr b="1" i="0" sz="2000" u="none" cap="none" strike="noStrike">
              <a:solidFill>
                <a:srgbClr val="0B0B0B"/>
              </a:solidFill>
              <a:latin typeface="Calibri"/>
              <a:ea typeface="Calibri"/>
              <a:cs typeface="Calibri"/>
              <a:sym typeface="Calibri"/>
            </a:endParaRPr>
          </a:p>
        </p:txBody>
      </p:sp>
      <p:sp>
        <p:nvSpPr>
          <p:cNvPr id="398" name="Google Shape;398;p31"/>
          <p:cNvSpPr/>
          <p:nvPr/>
        </p:nvSpPr>
        <p:spPr>
          <a:xfrm>
            <a:off x="377200" y="877824"/>
            <a:ext cx="754400" cy="24003"/>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9" name="Google Shape;399;p31"/>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0" name="Google Shape;400;p31"/>
          <p:cNvSpPr/>
          <p:nvPr/>
        </p:nvSpPr>
        <p:spPr>
          <a:xfrm>
            <a:off x="1494030" y="1549903"/>
            <a:ext cx="2217600" cy="1337400"/>
          </a:xfrm>
          <a:prstGeom prst="roundRect">
            <a:avLst>
              <a:gd fmla="val 16667" name="adj"/>
            </a:avLst>
          </a:prstGeom>
          <a:solidFill>
            <a:srgbClr val="FFFFFF"/>
          </a:solidFill>
          <a:ln cap="flat" cmpd="sng" w="9525">
            <a:solidFill>
              <a:srgbClr val="E3E1DA"/>
            </a:solidFill>
            <a:prstDash val="solid"/>
            <a:round/>
            <a:headEnd len="sm" w="sm" type="none"/>
            <a:tailEnd len="sm" w="sm" type="none"/>
          </a:ln>
        </p:spPr>
        <p:txBody>
          <a:bodyPr anchorCtr="0" anchor="ctr" bIns="16925" lIns="33850" spcFirstLastPara="1" rIns="33850" wrap="square" tIns="16925">
            <a:noAutofit/>
          </a:bodyPr>
          <a:lstStyle/>
          <a:p>
            <a:pPr indent="0" lvl="0" marL="0" marR="0" rtl="0" algn="ctr">
              <a:lnSpc>
                <a:spcPct val="100000"/>
              </a:lnSpc>
              <a:spcBef>
                <a:spcPts val="0"/>
              </a:spcBef>
              <a:spcAft>
                <a:spcPts val="0"/>
              </a:spcAft>
              <a:buClr>
                <a:srgbClr val="000000"/>
              </a:buClr>
              <a:buSzPts val="691"/>
              <a:buFont typeface="Arial"/>
              <a:buNone/>
            </a:pPr>
            <a:r>
              <a:t/>
            </a:r>
            <a:endParaRPr b="0" i="0" sz="691" u="none" cap="none" strike="noStrike">
              <a:solidFill>
                <a:schemeClr val="dk1"/>
              </a:solidFill>
              <a:latin typeface="Calibri"/>
              <a:ea typeface="Calibri"/>
              <a:cs typeface="Calibri"/>
              <a:sym typeface="Calibri"/>
            </a:endParaRPr>
          </a:p>
        </p:txBody>
      </p:sp>
      <p:pic>
        <p:nvPicPr>
          <p:cNvPr descr="grid_same.png" id="401" name="Google Shape;401;p31"/>
          <p:cNvPicPr preferRelativeResize="0"/>
          <p:nvPr/>
        </p:nvPicPr>
        <p:blipFill rotWithShape="1">
          <a:blip r:embed="rId3">
            <a:alphaModFix/>
          </a:blip>
          <a:srcRect b="0" l="0" r="0" t="0"/>
          <a:stretch/>
        </p:blipFill>
        <p:spPr>
          <a:xfrm>
            <a:off x="1656810" y="1597300"/>
            <a:ext cx="1891990" cy="1242501"/>
          </a:xfrm>
          <a:prstGeom prst="rect">
            <a:avLst/>
          </a:prstGeom>
          <a:noFill/>
          <a:ln>
            <a:noFill/>
          </a:ln>
        </p:spPr>
      </p:pic>
      <p:sp>
        <p:nvSpPr>
          <p:cNvPr id="402" name="Google Shape;402;p31"/>
          <p:cNvSpPr/>
          <p:nvPr/>
        </p:nvSpPr>
        <p:spPr>
          <a:xfrm>
            <a:off x="4511376" y="1543050"/>
            <a:ext cx="4198500" cy="685800"/>
          </a:xfrm>
          <a:prstGeom prst="roundRect">
            <a:avLst>
              <a:gd fmla="val 16667" name="adj"/>
            </a:avLst>
          </a:prstGeom>
          <a:solidFill>
            <a:srgbClr val="FCF2D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3" name="Google Shape;403;p31"/>
          <p:cNvSpPr/>
          <p:nvPr/>
        </p:nvSpPr>
        <p:spPr>
          <a:xfrm>
            <a:off x="4558025" y="1604771"/>
            <a:ext cx="54300" cy="562200"/>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4" name="Google Shape;404;p31"/>
          <p:cNvSpPr txBox="1"/>
          <p:nvPr/>
        </p:nvSpPr>
        <p:spPr>
          <a:xfrm>
            <a:off x="4646425" y="1674110"/>
            <a:ext cx="4063500" cy="424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chemeClr val="dk1"/>
                </a:solidFill>
                <a:latin typeface="Calibri"/>
                <a:ea typeface="Calibri"/>
                <a:cs typeface="Calibri"/>
                <a:sym typeface="Calibri"/>
              </a:rPr>
              <a:t>Same convolution ensures that the output has the same spatial dimensions as the input by padding just enough</a:t>
            </a:r>
            <a:r>
              <a:rPr b="1" lang="en" sz="1100">
                <a:solidFill>
                  <a:schemeClr val="dk1"/>
                </a:solidFill>
                <a:latin typeface="Calibri"/>
                <a:ea typeface="Calibri"/>
                <a:cs typeface="Calibri"/>
                <a:sym typeface="Calibri"/>
              </a:rPr>
              <a:t>.</a:t>
            </a:r>
            <a:r>
              <a:rPr b="1" i="0" lang="en"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p:txBody>
      </p:sp>
      <p:sp>
        <p:nvSpPr>
          <p:cNvPr id="405" name="Google Shape;405;p31"/>
          <p:cNvSpPr txBox="1"/>
          <p:nvPr/>
        </p:nvSpPr>
        <p:spPr>
          <a:xfrm>
            <a:off x="4944250" y="2400300"/>
            <a:ext cx="4063500" cy="20916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chemeClr val="dk1"/>
              </a:buClr>
              <a:buSzPts val="900"/>
              <a:buFont typeface="Arial"/>
              <a:buNone/>
            </a:pPr>
            <a:r>
              <a:rPr b="1" i="0" lang="en" sz="900" u="none" cap="none" strike="noStrike">
                <a:solidFill>
                  <a:srgbClr val="EDA100"/>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Advantages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The output is the same size as the input — so we can overlay, subtract, and chain freely</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Every pixel gets an output, even the ones at the edges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Deep networks can stack layers without the image shrinking away</a:t>
            </a:r>
            <a:endParaRPr b="0" i="0" sz="1100" u="none" cap="none" strike="noStrike">
              <a:solidFill>
                <a:schemeClr val="dk1"/>
              </a:solidFill>
              <a:latin typeface="Arial"/>
              <a:ea typeface="Arial"/>
              <a:cs typeface="Arial"/>
              <a:sym typeface="Arial"/>
            </a:endParaRPr>
          </a:p>
          <a:p>
            <a:pPr indent="0" lvl="0" marL="0" marR="0" rtl="0" algn="l">
              <a:lnSpc>
                <a:spcPct val="112000"/>
              </a:lnSpc>
              <a:spcBef>
                <a:spcPts val="300"/>
              </a:spcBef>
              <a:spcAft>
                <a:spcPts val="0"/>
              </a:spcAft>
              <a:buClr>
                <a:schemeClr val="dk1"/>
              </a:buClr>
              <a:buSzPts val="900"/>
              <a:buFont typeface="Arial"/>
              <a:buNone/>
            </a:pPr>
            <a:r>
              <a:rPr b="1" i="0" lang="en" sz="900" u="none" cap="none" strike="noStrike">
                <a:solidFill>
                  <a:srgbClr val="EDA100"/>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Limitations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The border values are partly made up</a:t>
            </a:r>
            <a:r>
              <a:rPr lang="en" sz="800">
                <a:solidFill>
                  <a:srgbClr val="52514E"/>
                </a:solidFill>
                <a:latin typeface="Calibri"/>
                <a:ea typeface="Calibri"/>
                <a:cs typeface="Calibri"/>
                <a:sym typeface="Calibri"/>
              </a:rPr>
              <a:t>, </a:t>
            </a:r>
            <a:r>
              <a:rPr b="0" i="0" lang="en" sz="800" u="none" cap="none" strike="noStrike">
                <a:solidFill>
                  <a:srgbClr val="52514E"/>
                </a:solidFill>
                <a:latin typeface="Calibri"/>
                <a:ea typeface="Calibri"/>
                <a:cs typeface="Calibri"/>
                <a:sym typeface="Calibri"/>
              </a:rPr>
              <a:t>so results near the edges can be subtly off</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We compute a bit more — the kernel also slides over the padded ring</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We have to choose what goes in the padding</a:t>
            </a:r>
            <a:endParaRPr b="0" i="0" sz="1100" u="none" cap="none" strike="noStrike">
              <a:solidFill>
                <a:schemeClr val="dk1"/>
              </a:solidFill>
              <a:latin typeface="Arial"/>
              <a:ea typeface="Arial"/>
              <a:cs typeface="Arial"/>
              <a:sym typeface="Arial"/>
            </a:endParaRPr>
          </a:p>
          <a:p>
            <a:pPr indent="0" lvl="0" marL="0" marR="0" rtl="0" algn="l">
              <a:lnSpc>
                <a:spcPct val="112000"/>
              </a:lnSpc>
              <a:spcBef>
                <a:spcPts val="300"/>
              </a:spcBef>
              <a:spcAft>
                <a:spcPts val="0"/>
              </a:spcAft>
              <a:buClr>
                <a:schemeClr val="dk1"/>
              </a:buClr>
              <a:buSzPts val="900"/>
              <a:buFont typeface="Arial"/>
              <a:buNone/>
            </a:pPr>
            <a:r>
              <a:rPr b="1" i="0" lang="en" sz="900" u="none" cap="none" strike="noStrike">
                <a:solidFill>
                  <a:srgbClr val="EDA100"/>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Other examples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Photo filters and unsharp masking — chains work because the size never changes</a:t>
            </a:r>
            <a:endParaRPr b="0" i="0" sz="1100" u="none" cap="none" strike="noStrike">
              <a:solidFill>
                <a:schemeClr val="dk1"/>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Detection and segmentation overlays that must land back on the frame</a:t>
            </a:r>
            <a:endParaRPr b="0" i="0" sz="800" u="none" cap="none" strike="noStrike">
              <a:solidFill>
                <a:srgbClr val="52514E"/>
              </a:solidFill>
              <a:latin typeface="Calibri"/>
              <a:ea typeface="Calibri"/>
              <a:cs typeface="Calibri"/>
              <a:sym typeface="Calibri"/>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Most common in CNNs</a:t>
            </a:r>
            <a:endParaRPr b="0" i="0" sz="800" u="none" cap="none" strike="noStrike">
              <a:solidFill>
                <a:srgbClr val="52514E"/>
              </a:solidFill>
              <a:latin typeface="Calibri"/>
              <a:ea typeface="Calibri"/>
              <a:cs typeface="Calibri"/>
              <a:sym typeface="Calibri"/>
            </a:endParaRPr>
          </a:p>
        </p:txBody>
      </p:sp>
      <p:sp>
        <p:nvSpPr>
          <p:cNvPr id="406" name="Google Shape;406;p31"/>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7" name="Google Shape;407;p31"/>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8" name="Google Shape;408;p31"/>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9" name="Google Shape;409;p31"/>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410" name="Google Shape;410;p31"/>
          <p:cNvSpPr/>
          <p:nvPr/>
        </p:nvSpPr>
        <p:spPr>
          <a:xfrm>
            <a:off x="8229819" y="4869180"/>
            <a:ext cx="534900" cy="192000"/>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7 / 11</a:t>
            </a:r>
            <a:endParaRPr b="0" i="0" sz="1100" u="none" cap="none" strike="noStrike">
              <a:solidFill>
                <a:srgbClr val="000000"/>
              </a:solidFill>
              <a:latin typeface="Arial"/>
              <a:ea typeface="Arial"/>
              <a:cs typeface="Arial"/>
              <a:sym typeface="Arial"/>
            </a:endParaRPr>
          </a:p>
        </p:txBody>
      </p:sp>
      <p:sp>
        <p:nvSpPr>
          <p:cNvPr id="411" name="Google Shape;411;p31"/>
          <p:cNvSpPr/>
          <p:nvPr/>
        </p:nvSpPr>
        <p:spPr>
          <a:xfrm>
            <a:off x="414898" y="3011873"/>
            <a:ext cx="4375800" cy="1539300"/>
          </a:xfrm>
          <a:prstGeom prst="roundRect">
            <a:avLst>
              <a:gd fmla="val 16667" name="adj"/>
            </a:avLst>
          </a:prstGeom>
          <a:solidFill>
            <a:srgbClr val="FFFFFF"/>
          </a:solidFill>
          <a:ln cap="flat" cmpd="sng" w="15000">
            <a:solidFill>
              <a:srgbClr val="E3E1DA"/>
            </a:solidFill>
            <a:prstDash val="solid"/>
            <a:round/>
            <a:headEnd len="sm" w="sm" type="none"/>
            <a:tailEnd len="sm" w="sm" type="none"/>
          </a:ln>
        </p:spPr>
        <p:txBody>
          <a:bodyPr anchorCtr="0" anchor="ctr" bIns="40500" lIns="81025" spcFirstLastPara="1" rIns="81025" wrap="square" tIns="40500">
            <a:noAutofit/>
          </a:bodyPr>
          <a:lstStyle/>
          <a:p>
            <a:pPr indent="0" lvl="0" marL="0" marR="0" rtl="0" algn="ctr">
              <a:lnSpc>
                <a:spcPct val="100000"/>
              </a:lnSpc>
              <a:spcBef>
                <a:spcPts val="0"/>
              </a:spcBef>
              <a:spcAft>
                <a:spcPts val="0"/>
              </a:spcAft>
              <a:buClr>
                <a:srgbClr val="000000"/>
              </a:buClr>
              <a:buSzPts val="1654"/>
              <a:buFont typeface="Arial"/>
              <a:buNone/>
            </a:pPr>
            <a:r>
              <a:t/>
            </a:r>
            <a:endParaRPr b="0" i="0" sz="1654" u="none" cap="none" strike="noStrike">
              <a:solidFill>
                <a:schemeClr val="dk1"/>
              </a:solidFill>
              <a:latin typeface="Calibri"/>
              <a:ea typeface="Calibri"/>
              <a:cs typeface="Calibri"/>
              <a:sym typeface="Calibri"/>
            </a:endParaRPr>
          </a:p>
        </p:txBody>
      </p:sp>
      <p:sp>
        <p:nvSpPr>
          <p:cNvPr id="412" name="Google Shape;412;p31"/>
          <p:cNvSpPr txBox="1"/>
          <p:nvPr/>
        </p:nvSpPr>
        <p:spPr>
          <a:xfrm>
            <a:off x="585632" y="3078806"/>
            <a:ext cx="3639600" cy="204900"/>
          </a:xfrm>
          <a:prstGeom prst="rect">
            <a:avLst/>
          </a:prstGeom>
          <a:noFill/>
          <a:ln>
            <a:noFill/>
          </a:ln>
        </p:spPr>
        <p:txBody>
          <a:bodyPr anchorCtr="0" anchor="t" bIns="40425" lIns="80875" spcFirstLastPara="1" rIns="80875" wrap="square" tIns="4042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B87E00"/>
                </a:solidFill>
                <a:latin typeface="Calibri"/>
                <a:ea typeface="Calibri"/>
                <a:cs typeface="Calibri"/>
                <a:sym typeface="Calibri"/>
              </a:rPr>
              <a:t>EXAMPLE — VIDEO GAME POST-PROCESSING</a:t>
            </a:r>
            <a:endParaRPr b="0" i="0" sz="800" u="none" cap="none" strike="noStrike">
              <a:solidFill>
                <a:srgbClr val="000000"/>
              </a:solidFill>
              <a:latin typeface="Calibri"/>
              <a:ea typeface="Calibri"/>
              <a:cs typeface="Calibri"/>
              <a:sym typeface="Calibri"/>
            </a:endParaRPr>
          </a:p>
        </p:txBody>
      </p:sp>
      <p:sp>
        <p:nvSpPr>
          <p:cNvPr id="413" name="Google Shape;413;p31"/>
          <p:cNvSpPr txBox="1"/>
          <p:nvPr/>
        </p:nvSpPr>
        <p:spPr>
          <a:xfrm>
            <a:off x="559224" y="3241043"/>
            <a:ext cx="4087200" cy="229200"/>
          </a:xfrm>
          <a:prstGeom prst="rect">
            <a:avLst/>
          </a:prstGeom>
          <a:noFill/>
          <a:ln>
            <a:noFill/>
          </a:ln>
        </p:spPr>
        <p:txBody>
          <a:bodyPr anchorCtr="0" anchor="t" bIns="40850" lIns="81750" spcFirstLastPara="1" rIns="81750" wrap="square" tIns="40850">
            <a:spAutoFit/>
          </a:bodyPr>
          <a:lstStyle/>
          <a:p>
            <a:pPr indent="0" lvl="0" marL="0" marR="0" rtl="0" algn="l">
              <a:lnSpc>
                <a:spcPct val="110000"/>
              </a:lnSpc>
              <a:spcBef>
                <a:spcPts val="0"/>
              </a:spcBef>
              <a:spcAft>
                <a:spcPts val="0"/>
              </a:spcAft>
              <a:buClr>
                <a:srgbClr val="000000"/>
              </a:buClr>
              <a:buSzPts val="954"/>
              <a:buFont typeface="Arial"/>
              <a:buNone/>
            </a:pPr>
            <a:r>
              <a:rPr b="0" i="1" lang="en" sz="954" u="none" cap="none" strike="noStrike">
                <a:solidFill>
                  <a:srgbClr val="52514E"/>
                </a:solidFill>
                <a:latin typeface="Calibri"/>
                <a:ea typeface="Calibri"/>
                <a:cs typeface="Calibri"/>
                <a:sym typeface="Calibri"/>
              </a:rPr>
              <a:t>bloom = the glow around bright lights: blur the bright spots</a:t>
            </a:r>
            <a:endParaRPr b="0" i="0" sz="1311" u="none" cap="none" strike="noStrike">
              <a:solidFill>
                <a:srgbClr val="000000"/>
              </a:solidFill>
              <a:latin typeface="Arial"/>
              <a:ea typeface="Arial"/>
              <a:cs typeface="Arial"/>
              <a:sym typeface="Arial"/>
            </a:endParaRPr>
          </a:p>
        </p:txBody>
      </p:sp>
      <p:pic>
        <p:nvPicPr>
          <p:cNvPr descr="example_game.png" id="414" name="Google Shape;414;p31"/>
          <p:cNvPicPr preferRelativeResize="0"/>
          <p:nvPr/>
        </p:nvPicPr>
        <p:blipFill rotWithShape="1">
          <a:blip r:embed="rId4">
            <a:alphaModFix/>
          </a:blip>
          <a:srcRect b="0" l="0" r="0" t="0"/>
          <a:stretch/>
        </p:blipFill>
        <p:spPr>
          <a:xfrm>
            <a:off x="610376" y="3452485"/>
            <a:ext cx="1812175" cy="1025625"/>
          </a:xfrm>
          <a:prstGeom prst="rect">
            <a:avLst/>
          </a:prstGeom>
          <a:noFill/>
          <a:ln>
            <a:noFill/>
          </a:ln>
        </p:spPr>
      </p:pic>
      <p:sp>
        <p:nvSpPr>
          <p:cNvPr id="415" name="Google Shape;415;p31"/>
          <p:cNvSpPr txBox="1"/>
          <p:nvPr/>
        </p:nvSpPr>
        <p:spPr>
          <a:xfrm>
            <a:off x="2483698" y="3576743"/>
            <a:ext cx="2248200" cy="575100"/>
          </a:xfrm>
          <a:prstGeom prst="rect">
            <a:avLst/>
          </a:prstGeom>
          <a:noFill/>
          <a:ln>
            <a:noFill/>
          </a:ln>
        </p:spPr>
        <p:txBody>
          <a:bodyPr anchorCtr="0" anchor="t" bIns="40850" lIns="81750" spcFirstLastPara="1" rIns="81750" wrap="square" tIns="40850">
            <a:spAutoFit/>
          </a:bodyPr>
          <a:lstStyle/>
          <a:p>
            <a:pPr indent="0" lvl="0" marL="0" marR="0" rtl="0" algn="l">
              <a:lnSpc>
                <a:spcPct val="110000"/>
              </a:lnSpc>
              <a:spcBef>
                <a:spcPts val="0"/>
              </a:spcBef>
              <a:spcAft>
                <a:spcPts val="0"/>
              </a:spcAft>
              <a:buClr>
                <a:srgbClr val="000000"/>
              </a:buClr>
              <a:buSzPts val="1000"/>
              <a:buFont typeface="Arial"/>
              <a:buNone/>
            </a:pPr>
            <a:r>
              <a:rPr b="0" i="1" lang="en" sz="1000" u="none" cap="none" strike="noStrike">
                <a:solidFill>
                  <a:srgbClr val="3B3B3B"/>
                </a:solidFill>
                <a:latin typeface="Calibri"/>
                <a:ea typeface="Calibri"/>
                <a:cs typeface="Calibri"/>
                <a:sym typeface="Calibri"/>
              </a:rPr>
              <a:t>Every frame gets filtered and must come back exactly screen-sized – that's same convolution, 60 times a second!</a:t>
            </a:r>
            <a:endParaRPr b="0" i="1" sz="1000" u="none" cap="none" strike="noStrike">
              <a:solidFill>
                <a:srgbClr val="000000"/>
              </a:solidFill>
              <a:latin typeface="Calibri"/>
              <a:ea typeface="Calibri"/>
              <a:cs typeface="Calibri"/>
              <a:sym typeface="Calibri"/>
            </a:endParaRPr>
          </a:p>
        </p:txBody>
      </p:sp>
      <p:sp>
        <p:nvSpPr>
          <p:cNvPr id="416" name="Google Shape;416;p31"/>
          <p:cNvSpPr/>
          <p:nvPr/>
        </p:nvSpPr>
        <p:spPr>
          <a:xfrm>
            <a:off x="377200" y="987552"/>
            <a:ext cx="8389500" cy="46620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7" name="Google Shape;417;p31"/>
          <p:cNvSpPr/>
          <p:nvPr/>
        </p:nvSpPr>
        <p:spPr>
          <a:xfrm>
            <a:off x="418349" y="1056132"/>
            <a:ext cx="48000" cy="329100"/>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8" name="Google Shape;418;p31"/>
          <p:cNvSpPr txBox="1"/>
          <p:nvPr/>
        </p:nvSpPr>
        <p:spPr>
          <a:xfrm>
            <a:off x="610378" y="1034130"/>
            <a:ext cx="7978200" cy="3462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0B0B"/>
                </a:solidFill>
                <a:latin typeface="Calibri"/>
                <a:ea typeface="Calibri"/>
                <a:cs typeface="Calibri"/>
                <a:sym typeface="Calibri"/>
              </a:rPr>
              <a:t>Same convolution (pad = (K</a:t>
            </a:r>
            <a:r>
              <a:rPr b="1" lang="en" sz="900">
                <a:solidFill>
                  <a:srgbClr val="0B0B0B"/>
                </a:solidFill>
                <a:latin typeface="Calibri"/>
                <a:ea typeface="Calibri"/>
                <a:cs typeface="Calibri"/>
                <a:sym typeface="Calibri"/>
              </a:rPr>
              <a:t>-</a:t>
            </a:r>
            <a:r>
              <a:rPr b="1" i="0" lang="en" sz="900" u="none" cap="none" strike="noStrike">
                <a:solidFill>
                  <a:srgbClr val="0B0B0B"/>
                </a:solidFill>
                <a:latin typeface="Calibri"/>
                <a:ea typeface="Calibri"/>
                <a:cs typeface="Calibri"/>
                <a:sym typeface="Calibri"/>
              </a:rPr>
              <a:t>1)/2) keeps the output exactly the same size as the input. Consequently, we might use same convolution when we want (1) to composite results back onto the frame (2) chain filters without resizing, or (3) add and subtract filtered images from the original.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2"/>
          <p:cNvSpPr/>
          <p:nvPr/>
        </p:nvSpPr>
        <p:spPr>
          <a:xfrm>
            <a:off x="0" y="0"/>
            <a:ext cx="9144015" cy="5143500"/>
          </a:xfrm>
          <a:prstGeom prst="rect">
            <a:avLst/>
          </a:prstGeom>
          <a:solidFill>
            <a:srgbClr val="F6F5F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5" name="Google Shape;425;p32"/>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6" name="Google Shape;426;p32"/>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7" name="Google Shape;427;p32"/>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8" name="Google Shape;428;p32"/>
          <p:cNvSpPr/>
          <p:nvPr/>
        </p:nvSpPr>
        <p:spPr>
          <a:xfrm>
            <a:off x="8394416" y="20574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9" name="Google Shape;429;p32"/>
          <p:cNvSpPr/>
          <p:nvPr/>
        </p:nvSpPr>
        <p:spPr>
          <a:xfrm>
            <a:off x="8497289" y="20574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0" name="Google Shape;430;p32"/>
          <p:cNvSpPr/>
          <p:nvPr/>
        </p:nvSpPr>
        <p:spPr>
          <a:xfrm>
            <a:off x="8600161" y="20574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1" name="Google Shape;431;p32"/>
          <p:cNvSpPr/>
          <p:nvPr/>
        </p:nvSpPr>
        <p:spPr>
          <a:xfrm>
            <a:off x="8394416" y="308609"/>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2" name="Google Shape;432;p32"/>
          <p:cNvSpPr/>
          <p:nvPr/>
        </p:nvSpPr>
        <p:spPr>
          <a:xfrm>
            <a:off x="8497289" y="308609"/>
            <a:ext cx="78869" cy="78867"/>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3" name="Google Shape;433;p32"/>
          <p:cNvSpPr/>
          <p:nvPr/>
        </p:nvSpPr>
        <p:spPr>
          <a:xfrm>
            <a:off x="8600161" y="308609"/>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4" name="Google Shape;434;p32"/>
          <p:cNvSpPr/>
          <p:nvPr/>
        </p:nvSpPr>
        <p:spPr>
          <a:xfrm>
            <a:off x="8394416" y="41148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5" name="Google Shape;435;p32"/>
          <p:cNvSpPr/>
          <p:nvPr/>
        </p:nvSpPr>
        <p:spPr>
          <a:xfrm>
            <a:off x="8497289" y="41148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6" name="Google Shape;436;p32"/>
          <p:cNvSpPr/>
          <p:nvPr/>
        </p:nvSpPr>
        <p:spPr>
          <a:xfrm>
            <a:off x="8600161" y="411480"/>
            <a:ext cx="78869" cy="78867"/>
          </a:xfrm>
          <a:prstGeom prst="rect">
            <a:avLst/>
          </a:prstGeom>
          <a:solidFill>
            <a:srgbClr val="C9C4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7" name="Google Shape;437;p32"/>
          <p:cNvSpPr/>
          <p:nvPr/>
        </p:nvSpPr>
        <p:spPr>
          <a:xfrm>
            <a:off x="377200" y="164592"/>
            <a:ext cx="1503313" cy="233172"/>
          </a:xfrm>
          <a:prstGeom prst="roundRect">
            <a:avLst>
              <a:gd fmla="val 16667" name="adj"/>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Calibri"/>
                <a:ea typeface="Calibri"/>
                <a:cs typeface="Calibri"/>
                <a:sym typeface="Calibri"/>
              </a:rPr>
              <a:t>MODE 3 OF 3 — FULL</a:t>
            </a:r>
            <a:endParaRPr b="0" i="0" sz="1100" u="none" cap="none" strike="noStrike">
              <a:solidFill>
                <a:srgbClr val="000000"/>
              </a:solidFill>
              <a:latin typeface="Arial"/>
              <a:ea typeface="Arial"/>
              <a:cs typeface="Arial"/>
              <a:sym typeface="Arial"/>
            </a:endParaRPr>
          </a:p>
        </p:txBody>
      </p:sp>
      <p:sp>
        <p:nvSpPr>
          <p:cNvPr id="438" name="Google Shape;438;p32"/>
          <p:cNvSpPr txBox="1"/>
          <p:nvPr/>
        </p:nvSpPr>
        <p:spPr>
          <a:xfrm>
            <a:off x="377200" y="384048"/>
            <a:ext cx="8389615"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700"/>
              <a:buFont typeface="Arial"/>
              <a:buNone/>
            </a:pPr>
            <a:r>
              <a:rPr b="1" i="0" lang="en" sz="1700" u="none" cap="none" strike="noStrike">
                <a:solidFill>
                  <a:srgbClr val="0B0B0B"/>
                </a:solidFill>
                <a:latin typeface="Calibri"/>
                <a:ea typeface="Calibri"/>
                <a:cs typeface="Calibri"/>
                <a:sym typeface="Calibri"/>
              </a:rPr>
              <a:t>Full convolution — when would we use it? Tracking at the frame edge!</a:t>
            </a:r>
            <a:endParaRPr b="0" i="0" sz="1100" u="none" cap="none" strike="noStrike">
              <a:solidFill>
                <a:srgbClr val="000000"/>
              </a:solidFill>
              <a:latin typeface="Arial"/>
              <a:ea typeface="Arial"/>
              <a:cs typeface="Arial"/>
              <a:sym typeface="Arial"/>
            </a:endParaRPr>
          </a:p>
        </p:txBody>
      </p:sp>
      <p:sp>
        <p:nvSpPr>
          <p:cNvPr id="439" name="Google Shape;439;p32"/>
          <p:cNvSpPr/>
          <p:nvPr/>
        </p:nvSpPr>
        <p:spPr>
          <a:xfrm>
            <a:off x="377200" y="877824"/>
            <a:ext cx="754400" cy="24003"/>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0" name="Google Shape;440;p32"/>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1" name="Google Shape;441;p32"/>
          <p:cNvSpPr/>
          <p:nvPr/>
        </p:nvSpPr>
        <p:spPr>
          <a:xfrm>
            <a:off x="377200" y="987552"/>
            <a:ext cx="8389615" cy="466344"/>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2" name="Google Shape;442;p32"/>
          <p:cNvSpPr/>
          <p:nvPr/>
        </p:nvSpPr>
        <p:spPr>
          <a:xfrm>
            <a:off x="418349" y="1056132"/>
            <a:ext cx="48007" cy="329184"/>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3" name="Google Shape;443;p32"/>
          <p:cNvSpPr txBox="1"/>
          <p:nvPr/>
        </p:nvSpPr>
        <p:spPr>
          <a:xfrm>
            <a:off x="586341" y="1041940"/>
            <a:ext cx="7978200" cy="3462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0B0B"/>
                </a:solidFill>
                <a:latin typeface="Calibri"/>
                <a:ea typeface="Calibri"/>
                <a:cs typeface="Calibri"/>
                <a:sym typeface="Calibri"/>
              </a:rPr>
              <a:t>Full convolution grows the output and scores every overlap. Consequently, we might use full convolution when we want to (1) track objects that are only partly inside the frame, (2) keep a filter’s complete response, or (3) build bigger kernels out of smaller ones.</a:t>
            </a:r>
            <a:endParaRPr b="0" i="0" sz="1100" u="none" cap="none" strike="noStrike">
              <a:solidFill>
                <a:srgbClr val="000000"/>
              </a:solidFill>
              <a:latin typeface="Arial"/>
              <a:ea typeface="Arial"/>
              <a:cs typeface="Arial"/>
              <a:sym typeface="Arial"/>
            </a:endParaRPr>
          </a:p>
        </p:txBody>
      </p:sp>
      <p:sp>
        <p:nvSpPr>
          <p:cNvPr id="444" name="Google Shape;444;p32"/>
          <p:cNvSpPr/>
          <p:nvPr/>
        </p:nvSpPr>
        <p:spPr>
          <a:xfrm>
            <a:off x="4800728" y="1659636"/>
            <a:ext cx="3943455" cy="582930"/>
          </a:xfrm>
          <a:prstGeom prst="roundRect">
            <a:avLst>
              <a:gd fmla="val 16667" name="adj"/>
            </a:avLst>
          </a:prstGeom>
          <a:solidFill>
            <a:srgbClr val="E6E3F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5" name="Google Shape;445;p32"/>
          <p:cNvSpPr/>
          <p:nvPr/>
        </p:nvSpPr>
        <p:spPr>
          <a:xfrm>
            <a:off x="4841877" y="1721358"/>
            <a:ext cx="48007" cy="459485"/>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6" name="Google Shape;446;p32"/>
          <p:cNvSpPr txBox="1"/>
          <p:nvPr/>
        </p:nvSpPr>
        <p:spPr>
          <a:xfrm>
            <a:off x="5040764" y="1755648"/>
            <a:ext cx="3600546" cy="41148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For a K×K kernel: pad K−1 per side — even one pixel of overlap counts; output = N+K−1.</a:t>
            </a:r>
            <a:endParaRPr b="0" i="0" sz="1100" u="none" cap="none" strike="noStrike">
              <a:solidFill>
                <a:srgbClr val="000000"/>
              </a:solidFill>
              <a:latin typeface="Arial"/>
              <a:ea typeface="Arial"/>
              <a:cs typeface="Arial"/>
              <a:sym typeface="Arial"/>
            </a:endParaRPr>
          </a:p>
        </p:txBody>
      </p:sp>
      <p:sp>
        <p:nvSpPr>
          <p:cNvPr id="447" name="Google Shape;447;p32"/>
          <p:cNvSpPr txBox="1"/>
          <p:nvPr/>
        </p:nvSpPr>
        <p:spPr>
          <a:xfrm>
            <a:off x="4800728" y="2400300"/>
            <a:ext cx="3943500" cy="1677600"/>
          </a:xfrm>
          <a:prstGeom prst="rect">
            <a:avLst/>
          </a:prstGeom>
          <a:noFill/>
          <a:ln>
            <a:noFill/>
          </a:ln>
        </p:spPr>
        <p:txBody>
          <a:bodyPr anchorCtr="0" anchor="t" bIns="34275" lIns="68575" spcFirstLastPara="1" rIns="68575" wrap="square" tIns="34275">
            <a:spAutoFit/>
          </a:bodyPr>
          <a:lstStyle/>
          <a:p>
            <a:pPr indent="0" lvl="0" marL="0" marR="0" rtl="0" algn="l">
              <a:lnSpc>
                <a:spcPct val="112000"/>
              </a:lnSpc>
              <a:spcBef>
                <a:spcPts val="0"/>
              </a:spcBef>
              <a:spcAft>
                <a:spcPts val="0"/>
              </a:spcAft>
              <a:buClr>
                <a:srgbClr val="000000"/>
              </a:buClr>
              <a:buSzPts val="900"/>
              <a:buFont typeface="Arial"/>
              <a:buNone/>
            </a:pPr>
            <a:r>
              <a:rPr b="1" i="0" lang="en" sz="900" u="none" cap="none" strike="noStrike">
                <a:solidFill>
                  <a:srgbClr val="4A3AA7"/>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Advantages</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We keep every value the kernel can produce — the complete convolution</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Every pixel gets used exactly K² times</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300"/>
              </a:spcBef>
              <a:spcAft>
                <a:spcPts val="0"/>
              </a:spcAft>
              <a:buClr>
                <a:srgbClr val="000000"/>
              </a:buClr>
              <a:buSzPts val="900"/>
              <a:buFont typeface="Arial"/>
              <a:buNone/>
            </a:pPr>
            <a:r>
              <a:rPr b="1" i="0" lang="en" sz="900" u="none" cap="none" strike="noStrike">
                <a:solidFill>
                  <a:srgbClr val="4A3AA7"/>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Limitations</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The output grows by K−1 every pass — sizes drift if we chain filters</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The outer band is computed mostly from padding, so it fades out</a:t>
            </a:r>
            <a:endParaRPr b="0" i="0" sz="1100" u="none" cap="none" strike="noStrike">
              <a:solidFill>
                <a:srgbClr val="000000"/>
              </a:solidFill>
              <a:latin typeface="Arial"/>
              <a:ea typeface="Arial"/>
              <a:cs typeface="Arial"/>
              <a:sym typeface="Arial"/>
            </a:endParaRPr>
          </a:p>
          <a:p>
            <a:pPr indent="0" lvl="0" marL="0" marR="0" rtl="0" algn="l">
              <a:lnSpc>
                <a:spcPct val="112000"/>
              </a:lnSpc>
              <a:spcBef>
                <a:spcPts val="300"/>
              </a:spcBef>
              <a:spcAft>
                <a:spcPts val="0"/>
              </a:spcAft>
              <a:buClr>
                <a:srgbClr val="000000"/>
              </a:buClr>
              <a:buSzPts val="900"/>
              <a:buFont typeface="Arial"/>
              <a:buNone/>
            </a:pPr>
            <a:r>
              <a:rPr b="1" i="0" lang="en" sz="900" u="none" cap="none" strike="noStrike">
                <a:solidFill>
                  <a:srgbClr val="4A3AA7"/>
                </a:solidFill>
                <a:latin typeface="Calibri"/>
                <a:ea typeface="Calibri"/>
                <a:cs typeface="Calibri"/>
                <a:sym typeface="Calibri"/>
              </a:rPr>
              <a:t>▸  </a:t>
            </a:r>
            <a:r>
              <a:rPr b="1" i="0" lang="en" sz="900" u="none" cap="none" strike="noStrike">
                <a:solidFill>
                  <a:srgbClr val="0B0B0B"/>
                </a:solidFill>
                <a:latin typeface="Calibri"/>
                <a:ea typeface="Calibri"/>
                <a:cs typeface="Calibri"/>
                <a:sym typeface="Calibri"/>
              </a:rPr>
              <a:t>Other examples</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30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Photoshop glows &amp; drop shadows — the effect spills past the layer, so the canvas grows</a:t>
            </a:r>
            <a:endParaRPr b="0" i="0" sz="1100" u="none" cap="none" strike="noStrike">
              <a:solidFill>
                <a:srgbClr val="000000"/>
              </a:solidFill>
              <a:latin typeface="Arial"/>
              <a:ea typeface="Arial"/>
              <a:cs typeface="Arial"/>
              <a:sym typeface="Arial"/>
            </a:endParaRPr>
          </a:p>
          <a:p>
            <a:pPr indent="-279400" lvl="0" marL="457200" marR="0" rtl="0" algn="l">
              <a:lnSpc>
                <a:spcPct val="112000"/>
              </a:lnSpc>
              <a:spcBef>
                <a:spcPts val="0"/>
              </a:spcBef>
              <a:spcAft>
                <a:spcPts val="0"/>
              </a:spcAft>
              <a:buClr>
                <a:srgbClr val="52514E"/>
              </a:buClr>
              <a:buSzPts val="800"/>
              <a:buFont typeface="Calibri"/>
              <a:buChar char="-"/>
            </a:pPr>
            <a:r>
              <a:rPr b="0" i="0" lang="en" sz="800" u="none" cap="none" strike="noStrike">
                <a:solidFill>
                  <a:srgbClr val="52514E"/>
                </a:solidFill>
                <a:latin typeface="Calibri"/>
                <a:ea typeface="Calibri"/>
                <a:cs typeface="Calibri"/>
                <a:sym typeface="Calibri"/>
              </a:rPr>
              <a:t>Building kernels from kernels</a:t>
            </a:r>
            <a:endParaRPr b="0" i="0" sz="1100" u="none" cap="none" strike="noStrike">
              <a:solidFill>
                <a:srgbClr val="000000"/>
              </a:solidFill>
              <a:latin typeface="Arial"/>
              <a:ea typeface="Arial"/>
              <a:cs typeface="Arial"/>
              <a:sym typeface="Arial"/>
            </a:endParaRPr>
          </a:p>
        </p:txBody>
      </p:sp>
      <p:sp>
        <p:nvSpPr>
          <p:cNvPr id="448" name="Google Shape;448;p32"/>
          <p:cNvSpPr/>
          <p:nvPr/>
        </p:nvSpPr>
        <p:spPr>
          <a:xfrm>
            <a:off x="377200" y="3120390"/>
            <a:ext cx="4183492" cy="1680210"/>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9" name="Google Shape;449;p32"/>
          <p:cNvSpPr txBox="1"/>
          <p:nvPr/>
        </p:nvSpPr>
        <p:spPr>
          <a:xfrm>
            <a:off x="548655" y="3175254"/>
            <a:ext cx="3566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4A3AA7"/>
                </a:solidFill>
                <a:latin typeface="Calibri"/>
                <a:ea typeface="Calibri"/>
                <a:cs typeface="Calibri"/>
                <a:sym typeface="Calibri"/>
              </a:rPr>
              <a:t>EXAMPLE — TRACKING AT THE FRAME EDGE</a:t>
            </a:r>
            <a:endParaRPr b="0" i="0" sz="800" u="none" cap="none" strike="noStrike">
              <a:solidFill>
                <a:srgbClr val="000000"/>
              </a:solidFill>
              <a:latin typeface="Calibri"/>
              <a:ea typeface="Calibri"/>
              <a:cs typeface="Calibri"/>
              <a:sym typeface="Calibri"/>
            </a:endParaRPr>
          </a:p>
        </p:txBody>
      </p:sp>
      <p:pic>
        <p:nvPicPr>
          <p:cNvPr descr="example_full.png" id="450" name="Google Shape;450;p32"/>
          <p:cNvPicPr preferRelativeResize="0"/>
          <p:nvPr/>
        </p:nvPicPr>
        <p:blipFill rotWithShape="1">
          <a:blip r:embed="rId3">
            <a:alphaModFix/>
          </a:blip>
          <a:srcRect b="0" l="0" r="0" t="0"/>
          <a:stretch/>
        </p:blipFill>
        <p:spPr>
          <a:xfrm>
            <a:off x="465537" y="3396775"/>
            <a:ext cx="2123800" cy="1194649"/>
          </a:xfrm>
          <a:prstGeom prst="rect">
            <a:avLst/>
          </a:prstGeom>
          <a:noFill/>
          <a:ln>
            <a:noFill/>
          </a:ln>
        </p:spPr>
      </p:pic>
      <p:sp>
        <p:nvSpPr>
          <p:cNvPr id="451" name="Google Shape;451;p32"/>
          <p:cNvSpPr txBox="1"/>
          <p:nvPr/>
        </p:nvSpPr>
        <p:spPr>
          <a:xfrm>
            <a:off x="2626075" y="3425597"/>
            <a:ext cx="1865400" cy="900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0" i="1" lang="en" sz="1000" u="none" cap="none" strike="noStrike">
                <a:solidFill>
                  <a:srgbClr val="3B3B3B"/>
                </a:solidFill>
                <a:latin typeface="Calibri"/>
                <a:ea typeface="Calibri"/>
                <a:cs typeface="Calibri"/>
                <a:sym typeface="Calibri"/>
              </a:rPr>
              <a:t>A pedestrian walks partly out of the frame and we still get a match score, because every overlap counts. Valid convolution might miss them.</a:t>
            </a:r>
            <a:endParaRPr b="0" i="1" sz="1000" u="none" cap="none" strike="noStrike">
              <a:solidFill>
                <a:srgbClr val="000000"/>
              </a:solidFill>
              <a:latin typeface="Calibri"/>
              <a:ea typeface="Calibri"/>
              <a:cs typeface="Calibri"/>
              <a:sym typeface="Calibri"/>
            </a:endParaRPr>
          </a:p>
        </p:txBody>
      </p:sp>
      <p:sp>
        <p:nvSpPr>
          <p:cNvPr id="452" name="Google Shape;452;p32"/>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3" name="Google Shape;453;p32"/>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4" name="Google Shape;454;p32"/>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5" name="Google Shape;455;p32"/>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456" name="Google Shape;456;p32"/>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8 / 11</a:t>
            </a:r>
            <a:endParaRPr b="0" i="0" sz="1100" u="none" cap="none" strike="noStrike">
              <a:solidFill>
                <a:srgbClr val="000000"/>
              </a:solidFill>
              <a:latin typeface="Arial"/>
              <a:ea typeface="Arial"/>
              <a:cs typeface="Arial"/>
              <a:sym typeface="Arial"/>
            </a:endParaRPr>
          </a:p>
        </p:txBody>
      </p:sp>
      <p:pic>
        <p:nvPicPr>
          <p:cNvPr descr="grid_full.png" id="457" name="Google Shape;457;p32"/>
          <p:cNvPicPr preferRelativeResize="0"/>
          <p:nvPr/>
        </p:nvPicPr>
        <p:blipFill rotWithShape="1">
          <a:blip r:embed="rId4">
            <a:alphaModFix/>
          </a:blip>
          <a:srcRect b="0" l="0" r="0" t="0"/>
          <a:stretch/>
        </p:blipFill>
        <p:spPr>
          <a:xfrm>
            <a:off x="1269874" y="1620824"/>
            <a:ext cx="2123807" cy="13326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3"/>
          <p:cNvSpPr/>
          <p:nvPr/>
        </p:nvSpPr>
        <p:spPr>
          <a:xfrm>
            <a:off x="0" y="0"/>
            <a:ext cx="9144015"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4" name="Google Shape;464;p33"/>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5" name="Google Shape;465;p33"/>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6" name="Google Shape;466;p33"/>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7" name="Google Shape;467;p33"/>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8" name="Google Shape;468;p33"/>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9" name="Google Shape;469;p33"/>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0" name="Google Shape;470;p33"/>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1" name="Google Shape;471;p33"/>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2" name="Google Shape;472;p33"/>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3" name="Google Shape;473;p33"/>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4" name="Google Shape;474;p33"/>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5" name="Google Shape;475;p33"/>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6" name="Google Shape;476;p33"/>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CONVOLUTION COMPARISON</a:t>
            </a:r>
            <a:endParaRPr b="0" i="0" sz="1100" u="none" cap="none" strike="noStrike">
              <a:solidFill>
                <a:srgbClr val="000000"/>
              </a:solidFill>
              <a:latin typeface="Arial"/>
              <a:ea typeface="Arial"/>
              <a:cs typeface="Arial"/>
              <a:sym typeface="Arial"/>
            </a:endParaRPr>
          </a:p>
        </p:txBody>
      </p:sp>
      <p:sp>
        <p:nvSpPr>
          <p:cNvPr id="477" name="Google Shape;477;p33"/>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Same image, same kernel — three different outputs</a:t>
            </a:r>
            <a:endParaRPr b="0" i="0" sz="1100" u="none" cap="none" strike="noStrike">
              <a:solidFill>
                <a:srgbClr val="000000"/>
              </a:solidFill>
              <a:latin typeface="Arial"/>
              <a:ea typeface="Arial"/>
              <a:cs typeface="Arial"/>
              <a:sym typeface="Arial"/>
            </a:endParaRPr>
          </a:p>
        </p:txBody>
      </p:sp>
      <p:sp>
        <p:nvSpPr>
          <p:cNvPr id="478" name="Google Shape;478;p33"/>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9" name="Google Shape;479;p33"/>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0" name="Google Shape;480;p33"/>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1" name="Google Shape;481;p33"/>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2" name="Google Shape;482;p33"/>
          <p:cNvSpPr txBox="1"/>
          <p:nvPr/>
        </p:nvSpPr>
        <p:spPr>
          <a:xfrm>
            <a:off x="610378" y="987552"/>
            <a:ext cx="7978200" cy="40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We apply the same kernel to the same image with each convolution mode, revealing the meaningful differences in the outputs based on how we handle the edges when doing the convolution.</a:t>
            </a:r>
            <a:endParaRPr b="0" i="0" sz="1100" u="none" cap="none" strike="noStrike">
              <a:solidFill>
                <a:srgbClr val="000000"/>
              </a:solidFill>
              <a:latin typeface="Arial"/>
              <a:ea typeface="Arial"/>
              <a:cs typeface="Arial"/>
              <a:sym typeface="Arial"/>
            </a:endParaRPr>
          </a:p>
        </p:txBody>
      </p:sp>
      <p:sp>
        <p:nvSpPr>
          <p:cNvPr id="483" name="Google Shape;483;p33"/>
          <p:cNvSpPr txBox="1"/>
          <p:nvPr/>
        </p:nvSpPr>
        <p:spPr>
          <a:xfrm>
            <a:off x="377200" y="1611630"/>
            <a:ext cx="1268700" cy="4632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1" lang="en" sz="800" u="none" cap="none" strike="noStrike">
                <a:solidFill>
                  <a:srgbClr val="666666"/>
                </a:solidFill>
                <a:latin typeface="Calibri"/>
                <a:ea typeface="Calibri"/>
                <a:cs typeface="Calibri"/>
                <a:sym typeface="Calibri"/>
              </a:rPr>
              <a:t>Sobel-style edge detector (21×21 Gaussian derivative), Zero padding.</a:t>
            </a:r>
            <a:endParaRPr b="0" i="1" sz="800" u="none" cap="none" strike="noStrike">
              <a:solidFill>
                <a:srgbClr val="666666"/>
              </a:solidFill>
              <a:latin typeface="Calibri"/>
              <a:ea typeface="Calibri"/>
              <a:cs typeface="Calibri"/>
              <a:sym typeface="Calibri"/>
            </a:endParaRPr>
          </a:p>
        </p:txBody>
      </p:sp>
      <p:sp>
        <p:nvSpPr>
          <p:cNvPr id="484" name="Google Shape;484;p33"/>
          <p:cNvSpPr txBox="1"/>
          <p:nvPr/>
        </p:nvSpPr>
        <p:spPr>
          <a:xfrm>
            <a:off x="2167186" y="1481328"/>
            <a:ext cx="960146"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898781"/>
                </a:solidFill>
                <a:latin typeface="Calibri"/>
                <a:ea typeface="Calibri"/>
                <a:cs typeface="Calibri"/>
                <a:sym typeface="Calibri"/>
              </a:rPr>
              <a:t>input</a:t>
            </a:r>
            <a:endParaRPr b="0" i="0" sz="1100" u="none" cap="none" strike="noStrike">
              <a:solidFill>
                <a:srgbClr val="000000"/>
              </a:solidFill>
              <a:latin typeface="Arial"/>
              <a:ea typeface="Arial"/>
              <a:cs typeface="Arial"/>
              <a:sym typeface="Arial"/>
            </a:endParaRPr>
          </a:p>
        </p:txBody>
      </p:sp>
      <p:pic>
        <p:nvPicPr>
          <p:cNvPr descr="grey_input.png" id="485" name="Google Shape;485;p33"/>
          <p:cNvPicPr preferRelativeResize="0"/>
          <p:nvPr/>
        </p:nvPicPr>
        <p:blipFill rotWithShape="1">
          <a:blip r:embed="rId3">
            <a:alphaModFix/>
          </a:blip>
          <a:srcRect b="0" l="0" r="0" t="0"/>
          <a:stretch/>
        </p:blipFill>
        <p:spPr>
          <a:xfrm>
            <a:off x="1721404" y="1905838"/>
            <a:ext cx="1577340" cy="851763"/>
          </a:xfrm>
          <a:prstGeom prst="rect">
            <a:avLst/>
          </a:prstGeom>
          <a:noFill/>
          <a:ln>
            <a:noFill/>
          </a:ln>
        </p:spPr>
      </p:pic>
      <p:sp>
        <p:nvSpPr>
          <p:cNvPr id="486" name="Google Shape;486;p33"/>
          <p:cNvSpPr/>
          <p:nvPr/>
        </p:nvSpPr>
        <p:spPr>
          <a:xfrm>
            <a:off x="3950313" y="1536192"/>
            <a:ext cx="123447" cy="123444"/>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7" name="Google Shape;487;p33"/>
          <p:cNvSpPr txBox="1"/>
          <p:nvPr/>
        </p:nvSpPr>
        <p:spPr>
          <a:xfrm>
            <a:off x="4114910" y="1481328"/>
            <a:ext cx="960146"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valid</a:t>
            </a:r>
            <a:endParaRPr b="0" i="0" sz="1100" u="none" cap="none" strike="noStrike">
              <a:solidFill>
                <a:srgbClr val="000000"/>
              </a:solidFill>
              <a:latin typeface="Arial"/>
              <a:ea typeface="Arial"/>
              <a:cs typeface="Arial"/>
              <a:sym typeface="Arial"/>
            </a:endParaRPr>
          </a:p>
        </p:txBody>
      </p:sp>
      <p:pic>
        <p:nvPicPr>
          <p:cNvPr descr="edge_valid.png" id="488" name="Google Shape;488;p33"/>
          <p:cNvPicPr preferRelativeResize="0"/>
          <p:nvPr/>
        </p:nvPicPr>
        <p:blipFill rotWithShape="1">
          <a:blip r:embed="rId4">
            <a:alphaModFix/>
          </a:blip>
          <a:srcRect b="0" l="0" r="0" t="0"/>
          <a:stretch/>
        </p:blipFill>
        <p:spPr>
          <a:xfrm>
            <a:off x="3665699" y="1984705"/>
            <a:ext cx="1419605" cy="694029"/>
          </a:xfrm>
          <a:prstGeom prst="rect">
            <a:avLst/>
          </a:prstGeom>
          <a:noFill/>
          <a:ln>
            <a:noFill/>
          </a:ln>
        </p:spPr>
      </p:pic>
      <p:sp>
        <p:nvSpPr>
          <p:cNvPr id="489" name="Google Shape;489;p33"/>
          <p:cNvSpPr/>
          <p:nvPr/>
        </p:nvSpPr>
        <p:spPr>
          <a:xfrm>
            <a:off x="5815739" y="1536192"/>
            <a:ext cx="123447" cy="123444"/>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0" name="Google Shape;490;p33"/>
          <p:cNvSpPr txBox="1"/>
          <p:nvPr/>
        </p:nvSpPr>
        <p:spPr>
          <a:xfrm>
            <a:off x="5980335" y="1481328"/>
            <a:ext cx="960146"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same</a:t>
            </a:r>
            <a:endParaRPr b="0" i="0" sz="1100" u="none" cap="none" strike="noStrike">
              <a:solidFill>
                <a:srgbClr val="000000"/>
              </a:solidFill>
              <a:latin typeface="Arial"/>
              <a:ea typeface="Arial"/>
              <a:cs typeface="Arial"/>
              <a:sym typeface="Arial"/>
            </a:endParaRPr>
          </a:p>
        </p:txBody>
      </p:sp>
      <p:pic>
        <p:nvPicPr>
          <p:cNvPr descr="edge_same.png" id="491" name="Google Shape;491;p33"/>
          <p:cNvPicPr preferRelativeResize="0"/>
          <p:nvPr/>
        </p:nvPicPr>
        <p:blipFill rotWithShape="1">
          <a:blip r:embed="rId5">
            <a:alphaModFix/>
          </a:blip>
          <a:srcRect b="0" l="0" r="0" t="0"/>
          <a:stretch/>
        </p:blipFill>
        <p:spPr>
          <a:xfrm>
            <a:off x="5452255" y="1905838"/>
            <a:ext cx="1577340" cy="851763"/>
          </a:xfrm>
          <a:prstGeom prst="rect">
            <a:avLst/>
          </a:prstGeom>
          <a:noFill/>
          <a:ln>
            <a:noFill/>
          </a:ln>
        </p:spPr>
      </p:pic>
      <p:sp>
        <p:nvSpPr>
          <p:cNvPr id="492" name="Google Shape;492;p33"/>
          <p:cNvSpPr/>
          <p:nvPr/>
        </p:nvSpPr>
        <p:spPr>
          <a:xfrm>
            <a:off x="7681165" y="1536192"/>
            <a:ext cx="123447" cy="123444"/>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3" name="Google Shape;493;p33"/>
          <p:cNvSpPr txBox="1"/>
          <p:nvPr/>
        </p:nvSpPr>
        <p:spPr>
          <a:xfrm>
            <a:off x="7845761" y="1481328"/>
            <a:ext cx="960146"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full</a:t>
            </a:r>
            <a:endParaRPr b="0" i="0" sz="1100" u="none" cap="none" strike="noStrike">
              <a:solidFill>
                <a:srgbClr val="000000"/>
              </a:solidFill>
              <a:latin typeface="Arial"/>
              <a:ea typeface="Arial"/>
              <a:cs typeface="Arial"/>
              <a:sym typeface="Arial"/>
            </a:endParaRPr>
          </a:p>
        </p:txBody>
      </p:sp>
      <p:pic>
        <p:nvPicPr>
          <p:cNvPr descr="edge_full.png" id="494" name="Google Shape;494;p33"/>
          <p:cNvPicPr preferRelativeResize="0"/>
          <p:nvPr/>
        </p:nvPicPr>
        <p:blipFill rotWithShape="1">
          <a:blip r:embed="rId6">
            <a:alphaModFix/>
          </a:blip>
          <a:srcRect b="0" l="0" r="0" t="0"/>
          <a:stretch/>
        </p:blipFill>
        <p:spPr>
          <a:xfrm>
            <a:off x="7238812" y="1826971"/>
            <a:ext cx="1735074" cy="1009497"/>
          </a:xfrm>
          <a:prstGeom prst="rect">
            <a:avLst/>
          </a:prstGeom>
          <a:noFill/>
          <a:ln>
            <a:noFill/>
          </a:ln>
        </p:spPr>
      </p:pic>
      <p:sp>
        <p:nvSpPr>
          <p:cNvPr id="495" name="Google Shape;495;p33"/>
          <p:cNvSpPr/>
          <p:nvPr/>
        </p:nvSpPr>
        <p:spPr>
          <a:xfrm>
            <a:off x="377200" y="3024378"/>
            <a:ext cx="8389615" cy="30861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6" name="Google Shape;496;p33"/>
          <p:cNvSpPr txBox="1"/>
          <p:nvPr/>
        </p:nvSpPr>
        <p:spPr>
          <a:xfrm>
            <a:off x="459498" y="3051810"/>
            <a:ext cx="1131600"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padding p</a:t>
            </a:r>
            <a:endParaRPr b="0" i="0" sz="1100" u="none" cap="none" strike="noStrike">
              <a:solidFill>
                <a:srgbClr val="000000"/>
              </a:solidFill>
              <a:latin typeface="Arial"/>
              <a:ea typeface="Arial"/>
              <a:cs typeface="Arial"/>
              <a:sym typeface="Arial"/>
            </a:endParaRPr>
          </a:p>
        </p:txBody>
      </p:sp>
      <p:sp>
        <p:nvSpPr>
          <p:cNvPr id="497" name="Google Shape;497;p33"/>
          <p:cNvSpPr txBox="1"/>
          <p:nvPr/>
        </p:nvSpPr>
        <p:spPr>
          <a:xfrm>
            <a:off x="1645964" y="3051810"/>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498" name="Google Shape;498;p33"/>
          <p:cNvSpPr txBox="1"/>
          <p:nvPr/>
        </p:nvSpPr>
        <p:spPr>
          <a:xfrm>
            <a:off x="3511389" y="3051810"/>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499" name="Google Shape;499;p33"/>
          <p:cNvSpPr txBox="1"/>
          <p:nvPr/>
        </p:nvSpPr>
        <p:spPr>
          <a:xfrm>
            <a:off x="5376815" y="3051810"/>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(K-1)/2  =  10</a:t>
            </a:r>
            <a:endParaRPr b="0" i="0" sz="1100" u="none" cap="none" strike="noStrike">
              <a:solidFill>
                <a:srgbClr val="000000"/>
              </a:solidFill>
              <a:latin typeface="Arial"/>
              <a:ea typeface="Arial"/>
              <a:cs typeface="Arial"/>
              <a:sym typeface="Arial"/>
            </a:endParaRPr>
          </a:p>
        </p:txBody>
      </p:sp>
      <p:sp>
        <p:nvSpPr>
          <p:cNvPr id="500" name="Google Shape;500;p33"/>
          <p:cNvSpPr txBox="1"/>
          <p:nvPr/>
        </p:nvSpPr>
        <p:spPr>
          <a:xfrm>
            <a:off x="7242241" y="3051810"/>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K-1  =  20</a:t>
            </a:r>
            <a:endParaRPr b="0" i="0" sz="1100" u="none" cap="none" strike="noStrike">
              <a:solidFill>
                <a:srgbClr val="000000"/>
              </a:solidFill>
              <a:latin typeface="Arial"/>
              <a:ea typeface="Arial"/>
              <a:cs typeface="Arial"/>
              <a:sym typeface="Arial"/>
            </a:endParaRPr>
          </a:p>
        </p:txBody>
      </p:sp>
      <p:sp>
        <p:nvSpPr>
          <p:cNvPr id="501" name="Google Shape;501;p33"/>
          <p:cNvSpPr txBox="1"/>
          <p:nvPr/>
        </p:nvSpPr>
        <p:spPr>
          <a:xfrm>
            <a:off x="459498" y="3374136"/>
            <a:ext cx="1131600"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output size</a:t>
            </a:r>
            <a:endParaRPr b="0" i="0" sz="1100" u="none" cap="none" strike="noStrike">
              <a:solidFill>
                <a:srgbClr val="000000"/>
              </a:solidFill>
              <a:latin typeface="Arial"/>
              <a:ea typeface="Arial"/>
              <a:cs typeface="Arial"/>
              <a:sym typeface="Arial"/>
            </a:endParaRPr>
          </a:p>
        </p:txBody>
      </p:sp>
      <p:sp>
        <p:nvSpPr>
          <p:cNvPr id="502" name="Google Shape;502;p33"/>
          <p:cNvSpPr txBox="1"/>
          <p:nvPr/>
        </p:nvSpPr>
        <p:spPr>
          <a:xfrm>
            <a:off x="1645964" y="3374136"/>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03" name="Google Shape;503;p33"/>
          <p:cNvSpPr txBox="1"/>
          <p:nvPr/>
        </p:nvSpPr>
        <p:spPr>
          <a:xfrm>
            <a:off x="3511389" y="3374136"/>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88x180  (shrinks)</a:t>
            </a:r>
            <a:endParaRPr b="0" i="0" sz="1100" u="none" cap="none" strike="noStrike">
              <a:solidFill>
                <a:srgbClr val="000000"/>
              </a:solidFill>
              <a:latin typeface="Arial"/>
              <a:ea typeface="Arial"/>
              <a:cs typeface="Arial"/>
              <a:sym typeface="Arial"/>
            </a:endParaRPr>
          </a:p>
        </p:txBody>
      </p:sp>
      <p:sp>
        <p:nvSpPr>
          <p:cNvPr id="504" name="Google Shape;504;p33"/>
          <p:cNvSpPr txBox="1"/>
          <p:nvPr/>
        </p:nvSpPr>
        <p:spPr>
          <a:xfrm>
            <a:off x="5376815" y="3374136"/>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108x200  (unchanged)</a:t>
            </a:r>
            <a:endParaRPr b="0" i="0" sz="1100" u="none" cap="none" strike="noStrike">
              <a:solidFill>
                <a:srgbClr val="000000"/>
              </a:solidFill>
              <a:latin typeface="Arial"/>
              <a:ea typeface="Arial"/>
              <a:cs typeface="Arial"/>
              <a:sym typeface="Arial"/>
            </a:endParaRPr>
          </a:p>
        </p:txBody>
      </p:sp>
      <p:sp>
        <p:nvSpPr>
          <p:cNvPr id="505" name="Google Shape;505;p33"/>
          <p:cNvSpPr txBox="1"/>
          <p:nvPr/>
        </p:nvSpPr>
        <p:spPr>
          <a:xfrm>
            <a:off x="7242241" y="3374136"/>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128x220  (grows)</a:t>
            </a:r>
            <a:endParaRPr b="0" i="0" sz="1100" u="none" cap="none" strike="noStrike">
              <a:solidFill>
                <a:srgbClr val="000000"/>
              </a:solidFill>
              <a:latin typeface="Arial"/>
              <a:ea typeface="Arial"/>
              <a:cs typeface="Arial"/>
              <a:sym typeface="Arial"/>
            </a:endParaRPr>
          </a:p>
        </p:txBody>
      </p:sp>
      <p:sp>
        <p:nvSpPr>
          <p:cNvPr id="506" name="Google Shape;506;p33"/>
          <p:cNvSpPr/>
          <p:nvPr/>
        </p:nvSpPr>
        <p:spPr>
          <a:xfrm>
            <a:off x="377200" y="3669030"/>
            <a:ext cx="8389615" cy="30861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7" name="Google Shape;507;p33"/>
          <p:cNvSpPr txBox="1"/>
          <p:nvPr/>
        </p:nvSpPr>
        <p:spPr>
          <a:xfrm>
            <a:off x="459498" y="3696462"/>
            <a:ext cx="1131600"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made-up pixels?</a:t>
            </a:r>
            <a:endParaRPr b="0" i="0" sz="1100" u="none" cap="none" strike="noStrike">
              <a:solidFill>
                <a:srgbClr val="000000"/>
              </a:solidFill>
              <a:latin typeface="Arial"/>
              <a:ea typeface="Arial"/>
              <a:cs typeface="Arial"/>
              <a:sym typeface="Arial"/>
            </a:endParaRPr>
          </a:p>
        </p:txBody>
      </p:sp>
      <p:sp>
        <p:nvSpPr>
          <p:cNvPr id="508" name="Google Shape;508;p33"/>
          <p:cNvSpPr txBox="1"/>
          <p:nvPr/>
        </p:nvSpPr>
        <p:spPr>
          <a:xfrm>
            <a:off x="1645964" y="3696462"/>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09" name="Google Shape;509;p33"/>
          <p:cNvSpPr txBox="1"/>
          <p:nvPr/>
        </p:nvSpPr>
        <p:spPr>
          <a:xfrm>
            <a:off x="3511389" y="3696462"/>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none</a:t>
            </a:r>
            <a:endParaRPr b="0" i="0" sz="1100" u="none" cap="none" strike="noStrike">
              <a:solidFill>
                <a:srgbClr val="000000"/>
              </a:solidFill>
              <a:latin typeface="Arial"/>
              <a:ea typeface="Arial"/>
              <a:cs typeface="Arial"/>
              <a:sym typeface="Arial"/>
            </a:endParaRPr>
          </a:p>
        </p:txBody>
      </p:sp>
      <p:sp>
        <p:nvSpPr>
          <p:cNvPr id="510" name="Google Shape;510;p33"/>
          <p:cNvSpPr txBox="1"/>
          <p:nvPr/>
        </p:nvSpPr>
        <p:spPr>
          <a:xfrm>
            <a:off x="5376815" y="3696462"/>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faint fake edges at the rim</a:t>
            </a:r>
            <a:endParaRPr b="0" i="0" sz="1100" u="none" cap="none" strike="noStrike">
              <a:solidFill>
                <a:srgbClr val="000000"/>
              </a:solidFill>
              <a:latin typeface="Arial"/>
              <a:ea typeface="Arial"/>
              <a:cs typeface="Arial"/>
              <a:sym typeface="Arial"/>
            </a:endParaRPr>
          </a:p>
        </p:txBody>
      </p:sp>
      <p:sp>
        <p:nvSpPr>
          <p:cNvPr id="511" name="Google Shape;511;p33"/>
          <p:cNvSpPr txBox="1"/>
          <p:nvPr/>
        </p:nvSpPr>
        <p:spPr>
          <a:xfrm>
            <a:off x="7242241" y="3696462"/>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 bright phantom frame</a:t>
            </a:r>
            <a:endParaRPr b="0" i="0" sz="1100" u="none" cap="none" strike="noStrike">
              <a:solidFill>
                <a:srgbClr val="000000"/>
              </a:solidFill>
              <a:latin typeface="Arial"/>
              <a:ea typeface="Arial"/>
              <a:cs typeface="Arial"/>
              <a:sym typeface="Arial"/>
            </a:endParaRPr>
          </a:p>
        </p:txBody>
      </p:sp>
      <p:sp>
        <p:nvSpPr>
          <p:cNvPr id="512" name="Google Shape;512;p33"/>
          <p:cNvSpPr txBox="1"/>
          <p:nvPr/>
        </p:nvSpPr>
        <p:spPr>
          <a:xfrm>
            <a:off x="459498" y="4018788"/>
            <a:ext cx="1131600"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border usage</a:t>
            </a:r>
            <a:endParaRPr b="0" i="0" sz="1100" u="none" cap="none" strike="noStrike">
              <a:solidFill>
                <a:srgbClr val="000000"/>
              </a:solidFill>
              <a:latin typeface="Arial"/>
              <a:ea typeface="Arial"/>
              <a:cs typeface="Arial"/>
              <a:sym typeface="Arial"/>
            </a:endParaRPr>
          </a:p>
        </p:txBody>
      </p:sp>
      <p:sp>
        <p:nvSpPr>
          <p:cNvPr id="513" name="Google Shape;513;p33"/>
          <p:cNvSpPr txBox="1"/>
          <p:nvPr/>
        </p:nvSpPr>
        <p:spPr>
          <a:xfrm>
            <a:off x="1645964" y="4018788"/>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14" name="Google Shape;514;p33"/>
          <p:cNvSpPr txBox="1"/>
          <p:nvPr/>
        </p:nvSpPr>
        <p:spPr>
          <a:xfrm>
            <a:off x="3511389" y="4018788"/>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biased (1 … K²)</a:t>
            </a:r>
            <a:endParaRPr b="0" i="0" sz="1100" u="none" cap="none" strike="noStrike">
              <a:solidFill>
                <a:srgbClr val="000000"/>
              </a:solidFill>
              <a:latin typeface="Arial"/>
              <a:ea typeface="Arial"/>
              <a:cs typeface="Arial"/>
              <a:sym typeface="Arial"/>
            </a:endParaRPr>
          </a:p>
        </p:txBody>
      </p:sp>
      <p:sp>
        <p:nvSpPr>
          <p:cNvPr id="515" name="Google Shape;515;p33"/>
          <p:cNvSpPr txBox="1"/>
          <p:nvPr/>
        </p:nvSpPr>
        <p:spPr>
          <a:xfrm>
            <a:off x="5376815" y="4018788"/>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covered, partly fake</a:t>
            </a:r>
            <a:endParaRPr b="0" i="0" sz="1100" u="none" cap="none" strike="noStrike">
              <a:solidFill>
                <a:srgbClr val="000000"/>
              </a:solidFill>
              <a:latin typeface="Arial"/>
              <a:ea typeface="Arial"/>
              <a:cs typeface="Arial"/>
              <a:sym typeface="Arial"/>
            </a:endParaRPr>
          </a:p>
        </p:txBody>
      </p:sp>
      <p:sp>
        <p:nvSpPr>
          <p:cNvPr id="516" name="Google Shape;516;p33"/>
          <p:cNvSpPr txBox="1"/>
          <p:nvPr/>
        </p:nvSpPr>
        <p:spPr>
          <a:xfrm>
            <a:off x="7242241" y="4018788"/>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equal – K² each</a:t>
            </a:r>
            <a:endParaRPr b="0" i="0" sz="1100" u="none" cap="none" strike="noStrike">
              <a:solidFill>
                <a:srgbClr val="000000"/>
              </a:solidFill>
              <a:latin typeface="Arial"/>
              <a:ea typeface="Arial"/>
              <a:cs typeface="Arial"/>
              <a:sym typeface="Arial"/>
            </a:endParaRPr>
          </a:p>
        </p:txBody>
      </p:sp>
      <p:sp>
        <p:nvSpPr>
          <p:cNvPr id="517" name="Google Shape;517;p33"/>
          <p:cNvSpPr/>
          <p:nvPr/>
        </p:nvSpPr>
        <p:spPr>
          <a:xfrm>
            <a:off x="377200" y="4313682"/>
            <a:ext cx="8389615" cy="30861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8" name="Google Shape;518;p33"/>
          <p:cNvSpPr txBox="1"/>
          <p:nvPr/>
        </p:nvSpPr>
        <p:spPr>
          <a:xfrm>
            <a:off x="459498" y="4341114"/>
            <a:ext cx="1131600"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52514E"/>
                </a:solidFill>
                <a:latin typeface="Calibri"/>
                <a:ea typeface="Calibri"/>
                <a:cs typeface="Calibri"/>
                <a:sym typeface="Calibri"/>
              </a:rPr>
              <a:t>aligned?</a:t>
            </a:r>
            <a:endParaRPr b="0" i="0" sz="1100" u="none" cap="none" strike="noStrike">
              <a:solidFill>
                <a:srgbClr val="000000"/>
              </a:solidFill>
              <a:latin typeface="Arial"/>
              <a:ea typeface="Arial"/>
              <a:cs typeface="Arial"/>
              <a:sym typeface="Arial"/>
            </a:endParaRPr>
          </a:p>
        </p:txBody>
      </p:sp>
      <p:sp>
        <p:nvSpPr>
          <p:cNvPr id="519" name="Google Shape;519;p33"/>
          <p:cNvSpPr txBox="1"/>
          <p:nvPr/>
        </p:nvSpPr>
        <p:spPr>
          <a:xfrm>
            <a:off x="1645964" y="4341114"/>
            <a:ext cx="1728262" cy="27432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20" name="Google Shape;520;p33"/>
          <p:cNvSpPr txBox="1"/>
          <p:nvPr/>
        </p:nvSpPr>
        <p:spPr>
          <a:xfrm>
            <a:off x="3511389" y="4341114"/>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no – shifted &amp; cropped</a:t>
            </a:r>
            <a:endParaRPr b="0" i="0" sz="1100" u="none" cap="none" strike="noStrike">
              <a:solidFill>
                <a:srgbClr val="000000"/>
              </a:solidFill>
              <a:latin typeface="Arial"/>
              <a:ea typeface="Arial"/>
              <a:cs typeface="Arial"/>
              <a:sym typeface="Arial"/>
            </a:endParaRPr>
          </a:p>
        </p:txBody>
      </p:sp>
      <p:sp>
        <p:nvSpPr>
          <p:cNvPr id="521" name="Google Shape;521;p33"/>
          <p:cNvSpPr txBox="1"/>
          <p:nvPr/>
        </p:nvSpPr>
        <p:spPr>
          <a:xfrm>
            <a:off x="5376815" y="4341114"/>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yes – centered at same pixel</a:t>
            </a:r>
            <a:endParaRPr b="0" i="0" sz="1100" u="none" cap="none" strike="noStrike">
              <a:solidFill>
                <a:srgbClr val="000000"/>
              </a:solidFill>
              <a:latin typeface="Arial"/>
              <a:ea typeface="Arial"/>
              <a:cs typeface="Arial"/>
              <a:sym typeface="Arial"/>
            </a:endParaRPr>
          </a:p>
        </p:txBody>
      </p:sp>
      <p:sp>
        <p:nvSpPr>
          <p:cNvPr id="522" name="Google Shape;522;p33"/>
          <p:cNvSpPr txBox="1"/>
          <p:nvPr/>
        </p:nvSpPr>
        <p:spPr>
          <a:xfrm>
            <a:off x="7242241" y="4341114"/>
            <a:ext cx="17283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no – shifted</a:t>
            </a:r>
            <a:endParaRPr b="0" i="0" sz="1100" u="none" cap="none" strike="noStrike">
              <a:solidFill>
                <a:srgbClr val="000000"/>
              </a:solidFill>
              <a:latin typeface="Arial"/>
              <a:ea typeface="Arial"/>
              <a:cs typeface="Arial"/>
              <a:sym typeface="Arial"/>
            </a:endParaRPr>
          </a:p>
        </p:txBody>
      </p:sp>
      <p:sp>
        <p:nvSpPr>
          <p:cNvPr id="523" name="Google Shape;523;p33"/>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4" name="Google Shape;524;p33"/>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5" name="Google Shape;525;p33"/>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6" name="Google Shape;526;p33"/>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527" name="Google Shape;527;p33"/>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9 / 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4"/>
          <p:cNvSpPr/>
          <p:nvPr/>
        </p:nvSpPr>
        <p:spPr>
          <a:xfrm>
            <a:off x="0" y="0"/>
            <a:ext cx="9144015"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4" name="Google Shape;534;p34"/>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5" name="Google Shape;535;p34"/>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6" name="Google Shape;536;p34"/>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7" name="Google Shape;537;p34"/>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8" name="Google Shape;538;p34"/>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9" name="Google Shape;539;p34"/>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0" name="Google Shape;540;p34"/>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1" name="Google Shape;541;p34"/>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2" name="Google Shape;542;p34"/>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3" name="Google Shape;543;p34"/>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4" name="Google Shape;544;p34"/>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5" name="Google Shape;545;p34"/>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6" name="Google Shape;546;p34"/>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DECISION GUIDE</a:t>
            </a:r>
            <a:endParaRPr b="0" i="0" sz="1100" u="none" cap="none" strike="noStrike">
              <a:solidFill>
                <a:srgbClr val="000000"/>
              </a:solidFill>
              <a:latin typeface="Arial"/>
              <a:ea typeface="Arial"/>
              <a:cs typeface="Arial"/>
              <a:sym typeface="Arial"/>
            </a:endParaRPr>
          </a:p>
        </p:txBody>
      </p:sp>
      <p:sp>
        <p:nvSpPr>
          <p:cNvPr id="547" name="Google Shape;547;p34"/>
          <p:cNvSpPr txBox="1"/>
          <p:nvPr/>
        </p:nvSpPr>
        <p:spPr>
          <a:xfrm>
            <a:off x="377200" y="384048"/>
            <a:ext cx="8389615"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When to use which</a:t>
            </a:r>
            <a:endParaRPr b="0" i="0" sz="1100" u="none" cap="none" strike="noStrike">
              <a:solidFill>
                <a:srgbClr val="000000"/>
              </a:solidFill>
              <a:latin typeface="Arial"/>
              <a:ea typeface="Arial"/>
              <a:cs typeface="Arial"/>
              <a:sym typeface="Arial"/>
            </a:endParaRPr>
          </a:p>
        </p:txBody>
      </p:sp>
      <p:sp>
        <p:nvSpPr>
          <p:cNvPr id="548" name="Google Shape;548;p34"/>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9" name="Google Shape;549;p34"/>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0" name="Google Shape;550;p34"/>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1" name="Google Shape;551;p34"/>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2" name="Google Shape;552;p34"/>
          <p:cNvSpPr txBox="1"/>
          <p:nvPr/>
        </p:nvSpPr>
        <p:spPr>
          <a:xfrm>
            <a:off x="610378" y="1060745"/>
            <a:ext cx="7978200" cy="2385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What matters in our output and pipeline? Edge information? Consistent dimensions? Processing speed?</a:t>
            </a:r>
            <a:endParaRPr b="0" i="0" sz="1100" u="none" cap="none" strike="noStrike">
              <a:solidFill>
                <a:srgbClr val="000000"/>
              </a:solidFill>
              <a:latin typeface="Arial"/>
              <a:ea typeface="Arial"/>
              <a:cs typeface="Arial"/>
              <a:sym typeface="Arial"/>
            </a:endParaRPr>
          </a:p>
        </p:txBody>
      </p:sp>
      <p:sp>
        <p:nvSpPr>
          <p:cNvPr id="553" name="Google Shape;553;p34"/>
          <p:cNvSpPr txBox="1"/>
          <p:nvPr/>
        </p:nvSpPr>
        <p:spPr>
          <a:xfrm>
            <a:off x="445782" y="1563623"/>
            <a:ext cx="52122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1.   Does the output need to be the same size as the input?</a:t>
            </a:r>
            <a:endParaRPr b="0" i="0" sz="1100" u="none" cap="none" strike="noStrike">
              <a:solidFill>
                <a:srgbClr val="000000"/>
              </a:solidFill>
              <a:latin typeface="Arial"/>
              <a:ea typeface="Arial"/>
              <a:cs typeface="Arial"/>
              <a:sym typeface="Arial"/>
            </a:endParaRPr>
          </a:p>
        </p:txBody>
      </p:sp>
      <p:sp>
        <p:nvSpPr>
          <p:cNvPr id="554" name="Google Shape;554;p34"/>
          <p:cNvSpPr txBox="1"/>
          <p:nvPr/>
        </p:nvSpPr>
        <p:spPr>
          <a:xfrm>
            <a:off x="5692292" y="1577340"/>
            <a:ext cx="342909"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898781"/>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55" name="Google Shape;555;p34"/>
          <p:cNvSpPr/>
          <p:nvPr/>
        </p:nvSpPr>
        <p:spPr>
          <a:xfrm>
            <a:off x="6103783" y="1577340"/>
            <a:ext cx="720109" cy="233172"/>
          </a:xfrm>
          <a:prstGeom prst="roundRect">
            <a:avLst>
              <a:gd fmla="val 16667" name="adj"/>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B0B0B"/>
                </a:solidFill>
                <a:latin typeface="Calibri"/>
                <a:ea typeface="Calibri"/>
                <a:cs typeface="Calibri"/>
                <a:sym typeface="Calibri"/>
              </a:rPr>
              <a:t>SAME</a:t>
            </a:r>
            <a:endParaRPr b="0" i="0" sz="1100" u="none" cap="none" strike="noStrike">
              <a:solidFill>
                <a:srgbClr val="000000"/>
              </a:solidFill>
              <a:latin typeface="Arial"/>
              <a:ea typeface="Arial"/>
              <a:cs typeface="Arial"/>
              <a:sym typeface="Arial"/>
            </a:endParaRPr>
          </a:p>
        </p:txBody>
      </p:sp>
      <p:sp>
        <p:nvSpPr>
          <p:cNvPr id="556" name="Google Shape;556;p34"/>
          <p:cNvSpPr txBox="1"/>
          <p:nvPr/>
        </p:nvSpPr>
        <p:spPr>
          <a:xfrm>
            <a:off x="445782" y="1885950"/>
            <a:ext cx="52122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2.   Does edge information matter? Do we need real data only? </a:t>
            </a:r>
            <a:endParaRPr b="0" i="0" sz="1100" u="none" cap="none" strike="noStrike">
              <a:solidFill>
                <a:srgbClr val="000000"/>
              </a:solidFill>
              <a:latin typeface="Arial"/>
              <a:ea typeface="Arial"/>
              <a:cs typeface="Arial"/>
              <a:sym typeface="Arial"/>
            </a:endParaRPr>
          </a:p>
        </p:txBody>
      </p:sp>
      <p:sp>
        <p:nvSpPr>
          <p:cNvPr id="557" name="Google Shape;557;p34"/>
          <p:cNvSpPr txBox="1"/>
          <p:nvPr/>
        </p:nvSpPr>
        <p:spPr>
          <a:xfrm>
            <a:off x="5692292" y="1899666"/>
            <a:ext cx="342909"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898781"/>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58" name="Google Shape;558;p34"/>
          <p:cNvSpPr/>
          <p:nvPr/>
        </p:nvSpPr>
        <p:spPr>
          <a:xfrm>
            <a:off x="6103783" y="1899666"/>
            <a:ext cx="720109" cy="233172"/>
          </a:xfrm>
          <a:prstGeom prst="roundRect">
            <a:avLst>
              <a:gd fmla="val 16667" name="adj"/>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Calibri"/>
                <a:ea typeface="Calibri"/>
                <a:cs typeface="Calibri"/>
                <a:sym typeface="Calibri"/>
              </a:rPr>
              <a:t>VALID</a:t>
            </a:r>
            <a:endParaRPr b="0" i="0" sz="1100" u="none" cap="none" strike="noStrike">
              <a:solidFill>
                <a:srgbClr val="000000"/>
              </a:solidFill>
              <a:latin typeface="Arial"/>
              <a:ea typeface="Arial"/>
              <a:cs typeface="Arial"/>
              <a:sym typeface="Arial"/>
            </a:endParaRPr>
          </a:p>
        </p:txBody>
      </p:sp>
      <p:sp>
        <p:nvSpPr>
          <p:cNvPr id="559" name="Google Shape;559;p34"/>
          <p:cNvSpPr txBox="1"/>
          <p:nvPr/>
        </p:nvSpPr>
        <p:spPr>
          <a:xfrm>
            <a:off x="445782" y="2208276"/>
            <a:ext cx="52122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0B0B0B"/>
                </a:solidFill>
                <a:latin typeface="Calibri"/>
                <a:ea typeface="Calibri"/>
                <a:cs typeface="Calibri"/>
                <a:sym typeface="Calibri"/>
              </a:rPr>
              <a:t>3.   Does every pixel matter?</a:t>
            </a:r>
            <a:endParaRPr b="0" i="0" sz="1100" u="none" cap="none" strike="noStrike">
              <a:solidFill>
                <a:srgbClr val="000000"/>
              </a:solidFill>
              <a:latin typeface="Arial"/>
              <a:ea typeface="Arial"/>
              <a:cs typeface="Arial"/>
              <a:sym typeface="Arial"/>
            </a:endParaRPr>
          </a:p>
        </p:txBody>
      </p:sp>
      <p:sp>
        <p:nvSpPr>
          <p:cNvPr id="560" name="Google Shape;560;p34"/>
          <p:cNvSpPr txBox="1"/>
          <p:nvPr/>
        </p:nvSpPr>
        <p:spPr>
          <a:xfrm>
            <a:off x="5692292" y="2221992"/>
            <a:ext cx="342909"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200"/>
              <a:buFont typeface="Arial"/>
              <a:buNone/>
            </a:pPr>
            <a:r>
              <a:rPr b="1" i="0" lang="en" sz="1200" u="none" cap="none" strike="noStrike">
                <a:solidFill>
                  <a:srgbClr val="898781"/>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61" name="Google Shape;561;p34"/>
          <p:cNvSpPr/>
          <p:nvPr/>
        </p:nvSpPr>
        <p:spPr>
          <a:xfrm>
            <a:off x="6103783" y="2221992"/>
            <a:ext cx="720109" cy="233172"/>
          </a:xfrm>
          <a:prstGeom prst="roundRect">
            <a:avLst>
              <a:gd fmla="val 16667" name="adj"/>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Calibri"/>
                <a:ea typeface="Calibri"/>
                <a:cs typeface="Calibri"/>
                <a:sym typeface="Calibri"/>
              </a:rPr>
              <a:t>FULL</a:t>
            </a:r>
            <a:endParaRPr b="0" i="0" sz="1100" u="none" cap="none" strike="noStrike">
              <a:solidFill>
                <a:srgbClr val="000000"/>
              </a:solidFill>
              <a:latin typeface="Arial"/>
              <a:ea typeface="Arial"/>
              <a:cs typeface="Arial"/>
              <a:sym typeface="Arial"/>
            </a:endParaRPr>
          </a:p>
        </p:txBody>
      </p:sp>
      <p:sp>
        <p:nvSpPr>
          <p:cNvPr id="562" name="Google Shape;562;p34"/>
          <p:cNvSpPr txBox="1"/>
          <p:nvPr/>
        </p:nvSpPr>
        <p:spPr>
          <a:xfrm>
            <a:off x="445782" y="2551176"/>
            <a:ext cx="52122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0" i="1" lang="en" sz="1000" u="none" cap="none" strike="noStrike">
                <a:solidFill>
                  <a:srgbClr val="52514E"/>
                </a:solidFill>
                <a:latin typeface="Calibri"/>
                <a:ea typeface="Calibri"/>
                <a:cs typeface="Calibri"/>
                <a:sym typeface="Calibri"/>
              </a:rPr>
              <a:t>No strong yes?  →  same  (the typical default)</a:t>
            </a:r>
            <a:endParaRPr b="0" i="0" sz="1100" u="none" cap="none" strike="noStrike">
              <a:solidFill>
                <a:srgbClr val="000000"/>
              </a:solidFill>
              <a:latin typeface="Arial"/>
              <a:ea typeface="Arial"/>
              <a:cs typeface="Arial"/>
              <a:sym typeface="Arial"/>
            </a:endParaRPr>
          </a:p>
        </p:txBody>
      </p:sp>
      <p:sp>
        <p:nvSpPr>
          <p:cNvPr id="563" name="Google Shape;563;p34"/>
          <p:cNvSpPr/>
          <p:nvPr/>
        </p:nvSpPr>
        <p:spPr>
          <a:xfrm>
            <a:off x="377200" y="2935224"/>
            <a:ext cx="8389615" cy="288036"/>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4" name="Google Shape;564;p34"/>
          <p:cNvSpPr txBox="1"/>
          <p:nvPr/>
        </p:nvSpPr>
        <p:spPr>
          <a:xfrm>
            <a:off x="459498" y="2969514"/>
            <a:ext cx="1611673"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mode</a:t>
            </a:r>
            <a:endParaRPr b="0" i="0" sz="1100" u="none" cap="none" strike="noStrike">
              <a:solidFill>
                <a:srgbClr val="000000"/>
              </a:solidFill>
              <a:latin typeface="Arial"/>
              <a:ea typeface="Arial"/>
              <a:cs typeface="Arial"/>
              <a:sym typeface="Arial"/>
            </a:endParaRPr>
          </a:p>
        </p:txBody>
      </p:sp>
      <p:sp>
        <p:nvSpPr>
          <p:cNvPr id="565" name="Google Shape;565;p34"/>
          <p:cNvSpPr txBox="1"/>
          <p:nvPr/>
        </p:nvSpPr>
        <p:spPr>
          <a:xfrm>
            <a:off x="2139753" y="2969514"/>
            <a:ext cx="891564"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padding</a:t>
            </a:r>
            <a:endParaRPr b="0" i="0" sz="1100" u="none" cap="none" strike="noStrike">
              <a:solidFill>
                <a:srgbClr val="000000"/>
              </a:solidFill>
              <a:latin typeface="Arial"/>
              <a:ea typeface="Arial"/>
              <a:cs typeface="Arial"/>
              <a:sym typeface="Arial"/>
            </a:endParaRPr>
          </a:p>
        </p:txBody>
      </p:sp>
      <p:sp>
        <p:nvSpPr>
          <p:cNvPr id="566" name="Google Shape;566;p34"/>
          <p:cNvSpPr txBox="1"/>
          <p:nvPr/>
        </p:nvSpPr>
        <p:spPr>
          <a:xfrm>
            <a:off x="3065608" y="2969514"/>
            <a:ext cx="1131600"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output</a:t>
            </a:r>
            <a:endParaRPr b="0" i="0" sz="1100" u="none" cap="none" strike="noStrike">
              <a:solidFill>
                <a:srgbClr val="000000"/>
              </a:solidFill>
              <a:latin typeface="Arial"/>
              <a:ea typeface="Arial"/>
              <a:cs typeface="Arial"/>
              <a:sym typeface="Arial"/>
            </a:endParaRPr>
          </a:p>
        </p:txBody>
      </p:sp>
      <p:sp>
        <p:nvSpPr>
          <p:cNvPr id="567" name="Google Shape;567;p34"/>
          <p:cNvSpPr txBox="1"/>
          <p:nvPr/>
        </p:nvSpPr>
        <p:spPr>
          <a:xfrm>
            <a:off x="4265790" y="2969514"/>
            <a:ext cx="1988873"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advantages</a:t>
            </a:r>
            <a:endParaRPr b="0" i="0" sz="1100" u="none" cap="none" strike="noStrike">
              <a:solidFill>
                <a:srgbClr val="000000"/>
              </a:solidFill>
              <a:latin typeface="Arial"/>
              <a:ea typeface="Arial"/>
              <a:cs typeface="Arial"/>
              <a:sym typeface="Arial"/>
            </a:endParaRPr>
          </a:p>
        </p:txBody>
      </p:sp>
      <p:sp>
        <p:nvSpPr>
          <p:cNvPr id="568" name="Google Shape;568;p34"/>
          <p:cNvSpPr txBox="1"/>
          <p:nvPr/>
        </p:nvSpPr>
        <p:spPr>
          <a:xfrm>
            <a:off x="6323244" y="2969514"/>
            <a:ext cx="24689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typical use</a:t>
            </a:r>
            <a:endParaRPr b="0" i="0" sz="1100" u="none" cap="none" strike="noStrike">
              <a:solidFill>
                <a:srgbClr val="000000"/>
              </a:solidFill>
              <a:latin typeface="Arial"/>
              <a:ea typeface="Arial"/>
              <a:cs typeface="Arial"/>
              <a:sym typeface="Arial"/>
            </a:endParaRPr>
          </a:p>
        </p:txBody>
      </p:sp>
      <p:sp>
        <p:nvSpPr>
          <p:cNvPr id="569" name="Google Shape;569;p34"/>
          <p:cNvSpPr/>
          <p:nvPr/>
        </p:nvSpPr>
        <p:spPr>
          <a:xfrm>
            <a:off x="377200" y="3223260"/>
            <a:ext cx="8389615" cy="534924"/>
          </a:xfrm>
          <a:prstGeom prst="rect">
            <a:avLst/>
          </a:prstGeom>
          <a:solidFill>
            <a:srgbClr val="F0F6F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0" name="Google Shape;570;p34"/>
          <p:cNvSpPr/>
          <p:nvPr/>
        </p:nvSpPr>
        <p:spPr>
          <a:xfrm>
            <a:off x="459498" y="3319272"/>
            <a:ext cx="137164" cy="137160"/>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1" name="Google Shape;571;p34"/>
          <p:cNvSpPr txBox="1"/>
          <p:nvPr/>
        </p:nvSpPr>
        <p:spPr>
          <a:xfrm>
            <a:off x="678960" y="3264408"/>
            <a:ext cx="13373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valid</a:t>
            </a:r>
            <a:endParaRPr b="0" i="0" sz="1100" u="none" cap="none" strike="noStrike">
              <a:solidFill>
                <a:srgbClr val="000000"/>
              </a:solidFill>
              <a:latin typeface="Arial"/>
              <a:ea typeface="Arial"/>
              <a:cs typeface="Arial"/>
              <a:sym typeface="Arial"/>
            </a:endParaRPr>
          </a:p>
        </p:txBody>
      </p:sp>
      <p:sp>
        <p:nvSpPr>
          <p:cNvPr id="572" name="Google Shape;572;p34"/>
          <p:cNvSpPr txBox="1"/>
          <p:nvPr/>
        </p:nvSpPr>
        <p:spPr>
          <a:xfrm>
            <a:off x="2126037" y="3305556"/>
            <a:ext cx="788691"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573" name="Google Shape;573;p34"/>
          <p:cNvSpPr txBox="1"/>
          <p:nvPr/>
        </p:nvSpPr>
        <p:spPr>
          <a:xfrm>
            <a:off x="3051891" y="3305556"/>
            <a:ext cx="10287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N-K+1</a:t>
            </a:r>
            <a:endParaRPr b="0" i="0" sz="1100" u="none" cap="none" strike="noStrike">
              <a:solidFill>
                <a:srgbClr val="000000"/>
              </a:solidFill>
              <a:latin typeface="Arial"/>
              <a:ea typeface="Arial"/>
              <a:cs typeface="Arial"/>
              <a:sym typeface="Arial"/>
            </a:endParaRPr>
          </a:p>
        </p:txBody>
      </p:sp>
      <p:sp>
        <p:nvSpPr>
          <p:cNvPr id="574" name="Google Shape;574;p34"/>
          <p:cNvSpPr txBox="1"/>
          <p:nvPr/>
        </p:nvSpPr>
        <p:spPr>
          <a:xfrm>
            <a:off x="4252073" y="3305556"/>
            <a:ext cx="1886000"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real data only — nothing invented</a:t>
            </a:r>
            <a:endParaRPr b="0" i="0" sz="1100" u="none" cap="none" strike="noStrike">
              <a:solidFill>
                <a:srgbClr val="000000"/>
              </a:solidFill>
              <a:latin typeface="Arial"/>
              <a:ea typeface="Arial"/>
              <a:cs typeface="Arial"/>
              <a:sym typeface="Arial"/>
            </a:endParaRPr>
          </a:p>
        </p:txBody>
      </p:sp>
      <p:sp>
        <p:nvSpPr>
          <p:cNvPr id="575" name="Google Shape;575;p34"/>
          <p:cNvSpPr txBox="1"/>
          <p:nvPr/>
        </p:nvSpPr>
        <p:spPr>
          <a:xfrm>
            <a:off x="6309528" y="3305556"/>
            <a:ext cx="23661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template matching · autofocus · Zoom </a:t>
            </a:r>
            <a:endParaRPr b="0" i="0" sz="1100" u="none" cap="none" strike="noStrike">
              <a:solidFill>
                <a:srgbClr val="000000"/>
              </a:solidFill>
              <a:latin typeface="Arial"/>
              <a:ea typeface="Arial"/>
              <a:cs typeface="Arial"/>
              <a:sym typeface="Arial"/>
            </a:endParaRPr>
          </a:p>
        </p:txBody>
      </p:sp>
      <p:sp>
        <p:nvSpPr>
          <p:cNvPr id="576" name="Google Shape;576;p34"/>
          <p:cNvSpPr/>
          <p:nvPr/>
        </p:nvSpPr>
        <p:spPr>
          <a:xfrm>
            <a:off x="377200" y="3758184"/>
            <a:ext cx="8389615" cy="534924"/>
          </a:xfrm>
          <a:prstGeom prst="rect">
            <a:avLst/>
          </a:prstGeom>
          <a:solidFill>
            <a:srgbClr val="FEF8E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7" name="Google Shape;577;p34"/>
          <p:cNvSpPr/>
          <p:nvPr/>
        </p:nvSpPr>
        <p:spPr>
          <a:xfrm>
            <a:off x="459498" y="3854196"/>
            <a:ext cx="137164" cy="137160"/>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8" name="Google Shape;578;p34"/>
          <p:cNvSpPr txBox="1"/>
          <p:nvPr/>
        </p:nvSpPr>
        <p:spPr>
          <a:xfrm>
            <a:off x="678960" y="3799332"/>
            <a:ext cx="13373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same</a:t>
            </a:r>
            <a:endParaRPr b="0" i="0" sz="1100" u="none" cap="none" strike="noStrike">
              <a:solidFill>
                <a:srgbClr val="000000"/>
              </a:solidFill>
              <a:latin typeface="Arial"/>
              <a:ea typeface="Arial"/>
              <a:cs typeface="Arial"/>
              <a:sym typeface="Arial"/>
            </a:endParaRPr>
          </a:p>
        </p:txBody>
      </p:sp>
      <p:sp>
        <p:nvSpPr>
          <p:cNvPr id="579" name="Google Shape;579;p34"/>
          <p:cNvSpPr txBox="1"/>
          <p:nvPr/>
        </p:nvSpPr>
        <p:spPr>
          <a:xfrm>
            <a:off x="2126037" y="3840480"/>
            <a:ext cx="7887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(K-1)/2</a:t>
            </a:r>
            <a:endParaRPr b="0" i="0" sz="1100" u="none" cap="none" strike="noStrike">
              <a:solidFill>
                <a:srgbClr val="000000"/>
              </a:solidFill>
              <a:latin typeface="Arial"/>
              <a:ea typeface="Arial"/>
              <a:cs typeface="Arial"/>
              <a:sym typeface="Arial"/>
            </a:endParaRPr>
          </a:p>
        </p:txBody>
      </p:sp>
      <p:sp>
        <p:nvSpPr>
          <p:cNvPr id="580" name="Google Shape;580;p34"/>
          <p:cNvSpPr txBox="1"/>
          <p:nvPr/>
        </p:nvSpPr>
        <p:spPr>
          <a:xfrm>
            <a:off x="3051891" y="3840480"/>
            <a:ext cx="1028727"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a:t>
            </a:r>
            <a:endParaRPr b="0" i="0" sz="1100" u="none" cap="none" strike="noStrike">
              <a:solidFill>
                <a:srgbClr val="000000"/>
              </a:solidFill>
              <a:latin typeface="Arial"/>
              <a:ea typeface="Arial"/>
              <a:cs typeface="Arial"/>
              <a:sym typeface="Arial"/>
            </a:endParaRPr>
          </a:p>
        </p:txBody>
      </p:sp>
      <p:sp>
        <p:nvSpPr>
          <p:cNvPr id="581" name="Google Shape;581;p34"/>
          <p:cNvSpPr txBox="1"/>
          <p:nvPr/>
        </p:nvSpPr>
        <p:spPr>
          <a:xfrm>
            <a:off x="4252073" y="3840480"/>
            <a:ext cx="1886000"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input &amp; output dimensions are equal</a:t>
            </a:r>
            <a:endParaRPr b="0" i="0" sz="1100" u="none" cap="none" strike="noStrike">
              <a:solidFill>
                <a:srgbClr val="000000"/>
              </a:solidFill>
              <a:latin typeface="Arial"/>
              <a:ea typeface="Arial"/>
              <a:cs typeface="Arial"/>
              <a:sym typeface="Arial"/>
            </a:endParaRPr>
          </a:p>
        </p:txBody>
      </p:sp>
      <p:sp>
        <p:nvSpPr>
          <p:cNvPr id="582" name="Google Shape;582;p34"/>
          <p:cNvSpPr txBox="1"/>
          <p:nvPr/>
        </p:nvSpPr>
        <p:spPr>
          <a:xfrm>
            <a:off x="6309525" y="3840475"/>
            <a:ext cx="2427000" cy="360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default mode, video games, photo filters, overlays</a:t>
            </a:r>
            <a:endParaRPr b="0" i="0" sz="1100" u="none" cap="none" strike="noStrike">
              <a:solidFill>
                <a:srgbClr val="000000"/>
              </a:solidFill>
              <a:latin typeface="Arial"/>
              <a:ea typeface="Arial"/>
              <a:cs typeface="Arial"/>
              <a:sym typeface="Arial"/>
            </a:endParaRPr>
          </a:p>
        </p:txBody>
      </p:sp>
      <p:sp>
        <p:nvSpPr>
          <p:cNvPr id="583" name="Google Shape;583;p34"/>
          <p:cNvSpPr/>
          <p:nvPr/>
        </p:nvSpPr>
        <p:spPr>
          <a:xfrm>
            <a:off x="377200" y="4293108"/>
            <a:ext cx="8389615" cy="534924"/>
          </a:xfrm>
          <a:prstGeom prst="rect">
            <a:avLst/>
          </a:prstGeom>
          <a:solidFill>
            <a:srgbClr val="F2F1F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4" name="Google Shape;584;p34"/>
          <p:cNvSpPr/>
          <p:nvPr/>
        </p:nvSpPr>
        <p:spPr>
          <a:xfrm>
            <a:off x="459498" y="4389119"/>
            <a:ext cx="137164" cy="137160"/>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5" name="Google Shape;585;p34"/>
          <p:cNvSpPr txBox="1"/>
          <p:nvPr/>
        </p:nvSpPr>
        <p:spPr>
          <a:xfrm>
            <a:off x="678960" y="4334255"/>
            <a:ext cx="13373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full</a:t>
            </a:r>
            <a:endParaRPr b="0" i="0" sz="1100" u="none" cap="none" strike="noStrike">
              <a:solidFill>
                <a:srgbClr val="000000"/>
              </a:solidFill>
              <a:latin typeface="Arial"/>
              <a:ea typeface="Arial"/>
              <a:cs typeface="Arial"/>
              <a:sym typeface="Arial"/>
            </a:endParaRPr>
          </a:p>
        </p:txBody>
      </p:sp>
      <p:sp>
        <p:nvSpPr>
          <p:cNvPr id="586" name="Google Shape;586;p34"/>
          <p:cNvSpPr txBox="1"/>
          <p:nvPr/>
        </p:nvSpPr>
        <p:spPr>
          <a:xfrm>
            <a:off x="2126037" y="4375404"/>
            <a:ext cx="7887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K-1</a:t>
            </a:r>
            <a:endParaRPr b="0" i="0" sz="1100" u="none" cap="none" strike="noStrike">
              <a:solidFill>
                <a:srgbClr val="000000"/>
              </a:solidFill>
              <a:latin typeface="Arial"/>
              <a:ea typeface="Arial"/>
              <a:cs typeface="Arial"/>
              <a:sym typeface="Arial"/>
            </a:endParaRPr>
          </a:p>
        </p:txBody>
      </p:sp>
      <p:sp>
        <p:nvSpPr>
          <p:cNvPr id="587" name="Google Shape;587;p34"/>
          <p:cNvSpPr txBox="1"/>
          <p:nvPr/>
        </p:nvSpPr>
        <p:spPr>
          <a:xfrm>
            <a:off x="3051891" y="4375404"/>
            <a:ext cx="10287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N+K-1</a:t>
            </a:r>
            <a:endParaRPr b="0" i="0" sz="1100" u="none" cap="none" strike="noStrike">
              <a:solidFill>
                <a:srgbClr val="000000"/>
              </a:solidFill>
              <a:latin typeface="Arial"/>
              <a:ea typeface="Arial"/>
              <a:cs typeface="Arial"/>
              <a:sym typeface="Arial"/>
            </a:endParaRPr>
          </a:p>
        </p:txBody>
      </p:sp>
      <p:sp>
        <p:nvSpPr>
          <p:cNvPr id="588" name="Google Shape;588;p34"/>
          <p:cNvSpPr txBox="1"/>
          <p:nvPr/>
        </p:nvSpPr>
        <p:spPr>
          <a:xfrm>
            <a:off x="4252073" y="4375404"/>
            <a:ext cx="18861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no lost information</a:t>
            </a:r>
            <a:endParaRPr b="0" i="0" sz="1100" u="none" cap="none" strike="noStrike">
              <a:solidFill>
                <a:srgbClr val="000000"/>
              </a:solidFill>
              <a:latin typeface="Arial"/>
              <a:ea typeface="Arial"/>
              <a:cs typeface="Arial"/>
              <a:sym typeface="Arial"/>
            </a:endParaRPr>
          </a:p>
        </p:txBody>
      </p:sp>
      <p:sp>
        <p:nvSpPr>
          <p:cNvPr id="589" name="Google Shape;589;p34"/>
          <p:cNvSpPr txBox="1"/>
          <p:nvPr/>
        </p:nvSpPr>
        <p:spPr>
          <a:xfrm>
            <a:off x="6309528" y="4375404"/>
            <a:ext cx="2366073"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0" i="0" lang="en" sz="900" u="none" cap="none" strike="noStrike">
                <a:solidFill>
                  <a:srgbClr val="0B0B0B"/>
                </a:solidFill>
                <a:latin typeface="Calibri"/>
                <a:ea typeface="Calibri"/>
                <a:cs typeface="Calibri"/>
                <a:sym typeface="Calibri"/>
              </a:rPr>
              <a:t>tracking at the edge · audio ring-out · glows</a:t>
            </a:r>
            <a:endParaRPr b="0" i="0" sz="1100" u="none" cap="none" strike="noStrike">
              <a:solidFill>
                <a:srgbClr val="000000"/>
              </a:solidFill>
              <a:latin typeface="Arial"/>
              <a:ea typeface="Arial"/>
              <a:cs typeface="Arial"/>
              <a:sym typeface="Arial"/>
            </a:endParaRPr>
          </a:p>
        </p:txBody>
      </p:sp>
      <p:sp>
        <p:nvSpPr>
          <p:cNvPr id="590" name="Google Shape;590;p34"/>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1" name="Google Shape;591;p34"/>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2" name="Google Shape;592;p34"/>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3" name="Google Shape;593;p34"/>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594" name="Google Shape;594;p34"/>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10 / 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5"/>
          <p:cNvSpPr/>
          <p:nvPr/>
        </p:nvSpPr>
        <p:spPr>
          <a:xfrm>
            <a:off x="0" y="0"/>
            <a:ext cx="9144015"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1" name="Google Shape;601;p35"/>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2" name="Google Shape;602;p35"/>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3" name="Google Shape;603;p35"/>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4" name="Google Shape;604;p35"/>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5" name="Google Shape;605;p35"/>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6" name="Google Shape;606;p35"/>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7" name="Google Shape;607;p35"/>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8" name="Google Shape;608;p35"/>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9" name="Google Shape;609;p35"/>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0" name="Google Shape;610;p35"/>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1" name="Google Shape;611;p35"/>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2" name="Google Shape;612;p35"/>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3" name="Google Shape;613;p35"/>
          <p:cNvSpPr txBox="1"/>
          <p:nvPr/>
        </p:nvSpPr>
        <p:spPr>
          <a:xfrm>
            <a:off x="377200" y="150876"/>
            <a:ext cx="54864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SUMMARY &amp; CONCLUSION</a:t>
            </a:r>
            <a:endParaRPr b="0" i="0" sz="1100" u="none" cap="none" strike="noStrike">
              <a:solidFill>
                <a:srgbClr val="000000"/>
              </a:solidFill>
              <a:latin typeface="Arial"/>
              <a:ea typeface="Arial"/>
              <a:cs typeface="Arial"/>
              <a:sym typeface="Arial"/>
            </a:endParaRPr>
          </a:p>
        </p:txBody>
      </p:sp>
      <p:sp>
        <p:nvSpPr>
          <p:cNvPr id="614" name="Google Shape;614;p35"/>
          <p:cNvSpPr txBox="1"/>
          <p:nvPr/>
        </p:nvSpPr>
        <p:spPr>
          <a:xfrm>
            <a:off x="377200" y="384048"/>
            <a:ext cx="83895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Valid vs. Same vs. Full Convolution – In Summary &amp; When to Use? </a:t>
            </a:r>
            <a:endParaRPr b="0" i="0" sz="1100" u="none" cap="none" strike="noStrike">
              <a:solidFill>
                <a:srgbClr val="000000"/>
              </a:solidFill>
              <a:latin typeface="Arial"/>
              <a:ea typeface="Arial"/>
              <a:cs typeface="Arial"/>
              <a:sym typeface="Arial"/>
            </a:endParaRPr>
          </a:p>
        </p:txBody>
      </p:sp>
      <p:sp>
        <p:nvSpPr>
          <p:cNvPr id="615" name="Google Shape;615;p35"/>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6" name="Google Shape;616;p35"/>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7" name="Google Shape;617;p35"/>
          <p:cNvSpPr/>
          <p:nvPr/>
        </p:nvSpPr>
        <p:spPr>
          <a:xfrm>
            <a:off x="377200" y="987552"/>
            <a:ext cx="8389615" cy="384048"/>
          </a:xfrm>
          <a:prstGeom prst="roundRect">
            <a:avLst>
              <a:gd fmla="val 16667" name="adj"/>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8" name="Google Shape;618;p35"/>
          <p:cNvSpPr/>
          <p:nvPr/>
        </p:nvSpPr>
        <p:spPr>
          <a:xfrm>
            <a:off x="418349" y="1056132"/>
            <a:ext cx="48007" cy="246888"/>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9" name="Google Shape;619;p35"/>
          <p:cNvSpPr txBox="1"/>
          <p:nvPr/>
        </p:nvSpPr>
        <p:spPr>
          <a:xfrm>
            <a:off x="610378" y="987552"/>
            <a:ext cx="7978200" cy="40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Choosing whether to use valid, same, or full convolution and how to pad is largely application-dependent and is a design and engineering decision that makes a significant impact on the downstream effectiveness of the image processing pipeline. I.e. it matters!</a:t>
            </a:r>
            <a:endParaRPr b="0" i="0" sz="1100" u="none" cap="none" strike="noStrike">
              <a:solidFill>
                <a:srgbClr val="000000"/>
              </a:solidFill>
              <a:latin typeface="Arial"/>
              <a:ea typeface="Arial"/>
              <a:cs typeface="Arial"/>
              <a:sym typeface="Arial"/>
            </a:endParaRPr>
          </a:p>
        </p:txBody>
      </p:sp>
      <p:sp>
        <p:nvSpPr>
          <p:cNvPr id="620" name="Google Shape;620;p35"/>
          <p:cNvSpPr/>
          <p:nvPr/>
        </p:nvSpPr>
        <p:spPr>
          <a:xfrm>
            <a:off x="1748837" y="1536192"/>
            <a:ext cx="137164" cy="137160"/>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1" name="Google Shape;621;p35"/>
          <p:cNvSpPr txBox="1"/>
          <p:nvPr/>
        </p:nvSpPr>
        <p:spPr>
          <a:xfrm>
            <a:off x="1954582" y="1481328"/>
            <a:ext cx="2019277"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valid</a:t>
            </a:r>
            <a:endParaRPr b="0" i="0" sz="1100" u="none" cap="none" strike="noStrike">
              <a:solidFill>
                <a:srgbClr val="000000"/>
              </a:solidFill>
              <a:latin typeface="Arial"/>
              <a:ea typeface="Arial"/>
              <a:cs typeface="Arial"/>
              <a:sym typeface="Arial"/>
            </a:endParaRPr>
          </a:p>
        </p:txBody>
      </p:sp>
      <p:sp>
        <p:nvSpPr>
          <p:cNvPr id="622" name="Google Shape;622;p35"/>
          <p:cNvSpPr txBox="1"/>
          <p:nvPr/>
        </p:nvSpPr>
        <p:spPr>
          <a:xfrm>
            <a:off x="1748837" y="1714500"/>
            <a:ext cx="2225023" cy="342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1" lang="en" sz="800" u="none" cap="none" strike="noStrike">
                <a:solidFill>
                  <a:srgbClr val="52514E"/>
                </a:solidFill>
                <a:latin typeface="Calibri"/>
                <a:ea typeface="Calibri"/>
                <a:cs typeface="Calibri"/>
                <a:sym typeface="Calibri"/>
              </a:rPr>
              <a:t>kernel fully inside — no padding</a:t>
            </a:r>
            <a:endParaRPr b="0" i="0" sz="1100" u="none" cap="none" strike="noStrike">
              <a:solidFill>
                <a:srgbClr val="000000"/>
              </a:solidFill>
              <a:latin typeface="Arial"/>
              <a:ea typeface="Arial"/>
              <a:cs typeface="Arial"/>
              <a:sym typeface="Arial"/>
            </a:endParaRPr>
          </a:p>
        </p:txBody>
      </p:sp>
      <p:sp>
        <p:nvSpPr>
          <p:cNvPr id="623" name="Google Shape;623;p35"/>
          <p:cNvSpPr/>
          <p:nvPr/>
        </p:nvSpPr>
        <p:spPr>
          <a:xfrm>
            <a:off x="4111023" y="1536192"/>
            <a:ext cx="137164" cy="137160"/>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4" name="Google Shape;624;p35"/>
          <p:cNvSpPr txBox="1"/>
          <p:nvPr/>
        </p:nvSpPr>
        <p:spPr>
          <a:xfrm>
            <a:off x="4316769" y="1481328"/>
            <a:ext cx="2019277"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same</a:t>
            </a:r>
            <a:endParaRPr b="0" i="0" sz="1100" u="none" cap="none" strike="noStrike">
              <a:solidFill>
                <a:srgbClr val="000000"/>
              </a:solidFill>
              <a:latin typeface="Arial"/>
              <a:ea typeface="Arial"/>
              <a:cs typeface="Arial"/>
              <a:sym typeface="Arial"/>
            </a:endParaRPr>
          </a:p>
        </p:txBody>
      </p:sp>
      <p:sp>
        <p:nvSpPr>
          <p:cNvPr id="625" name="Google Shape;625;p35"/>
          <p:cNvSpPr txBox="1"/>
          <p:nvPr/>
        </p:nvSpPr>
        <p:spPr>
          <a:xfrm>
            <a:off x="4111023" y="1714500"/>
            <a:ext cx="2225023" cy="3429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1" lang="en" sz="800" u="none" cap="none" strike="noStrike">
                <a:solidFill>
                  <a:srgbClr val="52514E"/>
                </a:solidFill>
                <a:latin typeface="Calibri"/>
                <a:ea typeface="Calibri"/>
                <a:cs typeface="Calibri"/>
                <a:sym typeface="Calibri"/>
              </a:rPr>
              <a:t>pad just enough: output = input size</a:t>
            </a:r>
            <a:endParaRPr b="0" i="0" sz="1100" u="none" cap="none" strike="noStrike">
              <a:solidFill>
                <a:srgbClr val="000000"/>
              </a:solidFill>
              <a:latin typeface="Arial"/>
              <a:ea typeface="Arial"/>
              <a:cs typeface="Arial"/>
              <a:sym typeface="Arial"/>
            </a:endParaRPr>
          </a:p>
        </p:txBody>
      </p:sp>
      <p:sp>
        <p:nvSpPr>
          <p:cNvPr id="626" name="Google Shape;626;p35"/>
          <p:cNvSpPr/>
          <p:nvPr/>
        </p:nvSpPr>
        <p:spPr>
          <a:xfrm>
            <a:off x="6473210" y="1536192"/>
            <a:ext cx="137164" cy="137160"/>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7" name="Google Shape;627;p35"/>
          <p:cNvSpPr txBox="1"/>
          <p:nvPr/>
        </p:nvSpPr>
        <p:spPr>
          <a:xfrm>
            <a:off x="6678955" y="1481328"/>
            <a:ext cx="2019277" cy="21945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full</a:t>
            </a:r>
            <a:endParaRPr b="0" i="0" sz="1100" u="none" cap="none" strike="noStrike">
              <a:solidFill>
                <a:srgbClr val="000000"/>
              </a:solidFill>
              <a:latin typeface="Arial"/>
              <a:ea typeface="Arial"/>
              <a:cs typeface="Arial"/>
              <a:sym typeface="Arial"/>
            </a:endParaRPr>
          </a:p>
        </p:txBody>
      </p:sp>
      <p:sp>
        <p:nvSpPr>
          <p:cNvPr id="628" name="Google Shape;628;p35"/>
          <p:cNvSpPr txBox="1"/>
          <p:nvPr/>
        </p:nvSpPr>
        <p:spPr>
          <a:xfrm>
            <a:off x="6473210" y="1714500"/>
            <a:ext cx="22251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1" lang="en" sz="800" u="none" cap="none" strike="noStrike">
                <a:solidFill>
                  <a:srgbClr val="52514E"/>
                </a:solidFill>
                <a:latin typeface="Calibri"/>
                <a:ea typeface="Calibri"/>
                <a:cs typeface="Calibri"/>
                <a:sym typeface="Calibri"/>
              </a:rPr>
              <a:t>every pixel counts</a:t>
            </a:r>
            <a:endParaRPr b="0" i="0" sz="1100" u="none" cap="none" strike="noStrike">
              <a:solidFill>
                <a:srgbClr val="000000"/>
              </a:solidFill>
              <a:latin typeface="Arial"/>
              <a:ea typeface="Arial"/>
              <a:cs typeface="Arial"/>
              <a:sym typeface="Arial"/>
            </a:endParaRPr>
          </a:p>
        </p:txBody>
      </p:sp>
      <p:sp>
        <p:nvSpPr>
          <p:cNvPr id="629" name="Google Shape;629;p35"/>
          <p:cNvSpPr/>
          <p:nvPr/>
        </p:nvSpPr>
        <p:spPr>
          <a:xfrm>
            <a:off x="377200" y="2091690"/>
            <a:ext cx="8389615" cy="20574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0" name="Google Shape;630;p35"/>
          <p:cNvSpPr txBox="1"/>
          <p:nvPr/>
        </p:nvSpPr>
        <p:spPr>
          <a:xfrm>
            <a:off x="459498" y="2112264"/>
            <a:ext cx="1200182"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padding p</a:t>
            </a:r>
            <a:endParaRPr b="0" i="0" sz="1100" u="none" cap="none" strike="noStrike">
              <a:solidFill>
                <a:srgbClr val="000000"/>
              </a:solidFill>
              <a:latin typeface="Arial"/>
              <a:ea typeface="Arial"/>
              <a:cs typeface="Arial"/>
              <a:sym typeface="Arial"/>
            </a:endParaRPr>
          </a:p>
        </p:txBody>
      </p:sp>
      <p:sp>
        <p:nvSpPr>
          <p:cNvPr id="631" name="Google Shape;631;p35"/>
          <p:cNvSpPr txBox="1"/>
          <p:nvPr/>
        </p:nvSpPr>
        <p:spPr>
          <a:xfrm>
            <a:off x="1735120" y="2112264"/>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632" name="Google Shape;632;p35"/>
          <p:cNvSpPr txBox="1"/>
          <p:nvPr/>
        </p:nvSpPr>
        <p:spPr>
          <a:xfrm>
            <a:off x="4097307" y="2112264"/>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(K-1)/2</a:t>
            </a:r>
            <a:endParaRPr b="0" i="0" sz="1100" u="none" cap="none" strike="noStrike">
              <a:solidFill>
                <a:srgbClr val="000000"/>
              </a:solidFill>
              <a:latin typeface="Arial"/>
              <a:ea typeface="Arial"/>
              <a:cs typeface="Arial"/>
              <a:sym typeface="Arial"/>
            </a:endParaRPr>
          </a:p>
        </p:txBody>
      </p:sp>
      <p:sp>
        <p:nvSpPr>
          <p:cNvPr id="633" name="Google Shape;633;p35"/>
          <p:cNvSpPr txBox="1"/>
          <p:nvPr/>
        </p:nvSpPr>
        <p:spPr>
          <a:xfrm>
            <a:off x="6459493" y="2112264"/>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K-1</a:t>
            </a:r>
            <a:endParaRPr b="0" i="0" sz="1100" u="none" cap="none" strike="noStrike">
              <a:solidFill>
                <a:srgbClr val="000000"/>
              </a:solidFill>
              <a:latin typeface="Arial"/>
              <a:ea typeface="Arial"/>
              <a:cs typeface="Arial"/>
              <a:sym typeface="Arial"/>
            </a:endParaRPr>
          </a:p>
        </p:txBody>
      </p:sp>
      <p:sp>
        <p:nvSpPr>
          <p:cNvPr id="634" name="Google Shape;634;p35"/>
          <p:cNvSpPr txBox="1"/>
          <p:nvPr/>
        </p:nvSpPr>
        <p:spPr>
          <a:xfrm>
            <a:off x="459498" y="2359152"/>
            <a:ext cx="1200182"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pad values</a:t>
            </a:r>
            <a:endParaRPr b="0" i="0" sz="1100" u="none" cap="none" strike="noStrike">
              <a:solidFill>
                <a:srgbClr val="000000"/>
              </a:solidFill>
              <a:latin typeface="Arial"/>
              <a:ea typeface="Arial"/>
              <a:cs typeface="Arial"/>
              <a:sym typeface="Arial"/>
            </a:endParaRPr>
          </a:p>
        </p:txBody>
      </p:sp>
      <p:sp>
        <p:nvSpPr>
          <p:cNvPr id="635" name="Google Shape;635;p35"/>
          <p:cNvSpPr txBox="1"/>
          <p:nvPr/>
        </p:nvSpPr>
        <p:spPr>
          <a:xfrm>
            <a:off x="1735120" y="2359152"/>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none needed</a:t>
            </a:r>
            <a:endParaRPr b="0" i="0" sz="1100" u="none" cap="none" strike="noStrike">
              <a:solidFill>
                <a:srgbClr val="000000"/>
              </a:solidFill>
              <a:latin typeface="Arial"/>
              <a:ea typeface="Arial"/>
              <a:cs typeface="Arial"/>
              <a:sym typeface="Arial"/>
            </a:endParaRPr>
          </a:p>
        </p:txBody>
      </p:sp>
      <p:sp>
        <p:nvSpPr>
          <p:cNvPr id="636" name="Google Shape;636;p35"/>
          <p:cNvSpPr txBox="1"/>
          <p:nvPr/>
        </p:nvSpPr>
        <p:spPr>
          <a:xfrm>
            <a:off x="4097307" y="2359152"/>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any</a:t>
            </a:r>
            <a:endParaRPr b="0" i="0" sz="1100" u="none" cap="none" strike="noStrike">
              <a:solidFill>
                <a:srgbClr val="000000"/>
              </a:solidFill>
              <a:latin typeface="Arial"/>
              <a:ea typeface="Arial"/>
              <a:cs typeface="Arial"/>
              <a:sym typeface="Arial"/>
            </a:endParaRPr>
          </a:p>
        </p:txBody>
      </p:sp>
      <p:sp>
        <p:nvSpPr>
          <p:cNvPr id="637" name="Google Shape;637;p35"/>
          <p:cNvSpPr txBox="1"/>
          <p:nvPr/>
        </p:nvSpPr>
        <p:spPr>
          <a:xfrm>
            <a:off x="6459493" y="2359152"/>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any</a:t>
            </a:r>
            <a:endParaRPr b="0" i="0" sz="1100" u="none" cap="none" strike="noStrike">
              <a:solidFill>
                <a:srgbClr val="000000"/>
              </a:solidFill>
              <a:latin typeface="Arial"/>
              <a:ea typeface="Arial"/>
              <a:cs typeface="Arial"/>
              <a:sym typeface="Arial"/>
            </a:endParaRPr>
          </a:p>
        </p:txBody>
      </p:sp>
      <p:sp>
        <p:nvSpPr>
          <p:cNvPr id="638" name="Google Shape;638;p35"/>
          <p:cNvSpPr/>
          <p:nvPr/>
        </p:nvSpPr>
        <p:spPr>
          <a:xfrm>
            <a:off x="377200" y="2585466"/>
            <a:ext cx="8389615" cy="20574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9" name="Google Shape;639;p35"/>
          <p:cNvSpPr txBox="1"/>
          <p:nvPr/>
        </p:nvSpPr>
        <p:spPr>
          <a:xfrm>
            <a:off x="459498" y="2606040"/>
            <a:ext cx="1200182"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output size</a:t>
            </a:r>
            <a:endParaRPr b="0" i="0" sz="1100" u="none" cap="none" strike="noStrike">
              <a:solidFill>
                <a:srgbClr val="000000"/>
              </a:solidFill>
              <a:latin typeface="Arial"/>
              <a:ea typeface="Arial"/>
              <a:cs typeface="Arial"/>
              <a:sym typeface="Arial"/>
            </a:endParaRPr>
          </a:p>
        </p:txBody>
      </p:sp>
      <p:sp>
        <p:nvSpPr>
          <p:cNvPr id="640" name="Google Shape;640;p35"/>
          <p:cNvSpPr txBox="1"/>
          <p:nvPr/>
        </p:nvSpPr>
        <p:spPr>
          <a:xfrm>
            <a:off x="1735120" y="2606040"/>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N-K+1  (shrinks)</a:t>
            </a:r>
            <a:endParaRPr b="0" i="0" sz="1100" u="none" cap="none" strike="noStrike">
              <a:solidFill>
                <a:srgbClr val="000000"/>
              </a:solidFill>
              <a:latin typeface="Arial"/>
              <a:ea typeface="Arial"/>
              <a:cs typeface="Arial"/>
              <a:sym typeface="Arial"/>
            </a:endParaRPr>
          </a:p>
        </p:txBody>
      </p:sp>
      <p:sp>
        <p:nvSpPr>
          <p:cNvPr id="641" name="Google Shape;641;p35"/>
          <p:cNvSpPr txBox="1"/>
          <p:nvPr/>
        </p:nvSpPr>
        <p:spPr>
          <a:xfrm>
            <a:off x="4097307" y="2606040"/>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  (unchanged)</a:t>
            </a:r>
            <a:endParaRPr b="0" i="0" sz="1100" u="none" cap="none" strike="noStrike">
              <a:solidFill>
                <a:srgbClr val="000000"/>
              </a:solidFill>
              <a:latin typeface="Arial"/>
              <a:ea typeface="Arial"/>
              <a:cs typeface="Arial"/>
              <a:sym typeface="Arial"/>
            </a:endParaRPr>
          </a:p>
        </p:txBody>
      </p:sp>
      <p:sp>
        <p:nvSpPr>
          <p:cNvPr id="642" name="Google Shape;642;p35"/>
          <p:cNvSpPr txBox="1"/>
          <p:nvPr/>
        </p:nvSpPr>
        <p:spPr>
          <a:xfrm>
            <a:off x="6459493" y="2606040"/>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N+K-1  (grows)</a:t>
            </a:r>
            <a:endParaRPr b="0" i="0" sz="1100" u="none" cap="none" strike="noStrike">
              <a:solidFill>
                <a:srgbClr val="000000"/>
              </a:solidFill>
              <a:latin typeface="Arial"/>
              <a:ea typeface="Arial"/>
              <a:cs typeface="Arial"/>
              <a:sym typeface="Arial"/>
            </a:endParaRPr>
          </a:p>
        </p:txBody>
      </p:sp>
      <p:sp>
        <p:nvSpPr>
          <p:cNvPr id="643" name="Google Shape;643;p35"/>
          <p:cNvSpPr txBox="1"/>
          <p:nvPr/>
        </p:nvSpPr>
        <p:spPr>
          <a:xfrm>
            <a:off x="459498" y="2852928"/>
            <a:ext cx="1200182"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aligned with input?</a:t>
            </a:r>
            <a:endParaRPr b="0" i="0" sz="1100" u="none" cap="none" strike="noStrike">
              <a:solidFill>
                <a:srgbClr val="000000"/>
              </a:solidFill>
              <a:latin typeface="Arial"/>
              <a:ea typeface="Arial"/>
              <a:cs typeface="Arial"/>
              <a:sym typeface="Arial"/>
            </a:endParaRPr>
          </a:p>
        </p:txBody>
      </p:sp>
      <p:sp>
        <p:nvSpPr>
          <p:cNvPr id="644" name="Google Shape;644;p35"/>
          <p:cNvSpPr txBox="1"/>
          <p:nvPr/>
        </p:nvSpPr>
        <p:spPr>
          <a:xfrm>
            <a:off x="1735120" y="2852928"/>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no</a:t>
            </a:r>
            <a:endParaRPr b="0" i="0" sz="1100" u="none" cap="none" strike="noStrike">
              <a:solidFill>
                <a:srgbClr val="000000"/>
              </a:solidFill>
              <a:latin typeface="Arial"/>
              <a:ea typeface="Arial"/>
              <a:cs typeface="Arial"/>
              <a:sym typeface="Arial"/>
            </a:endParaRPr>
          </a:p>
        </p:txBody>
      </p:sp>
      <p:sp>
        <p:nvSpPr>
          <p:cNvPr id="645" name="Google Shape;645;p35"/>
          <p:cNvSpPr txBox="1"/>
          <p:nvPr/>
        </p:nvSpPr>
        <p:spPr>
          <a:xfrm>
            <a:off x="4097307" y="2852928"/>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yes</a:t>
            </a:r>
            <a:endParaRPr b="0" i="0" sz="1100" u="none" cap="none" strike="noStrike">
              <a:solidFill>
                <a:srgbClr val="000000"/>
              </a:solidFill>
              <a:latin typeface="Arial"/>
              <a:ea typeface="Arial"/>
              <a:cs typeface="Arial"/>
              <a:sym typeface="Arial"/>
            </a:endParaRPr>
          </a:p>
        </p:txBody>
      </p:sp>
      <p:sp>
        <p:nvSpPr>
          <p:cNvPr id="646" name="Google Shape;646;p35"/>
          <p:cNvSpPr txBox="1"/>
          <p:nvPr/>
        </p:nvSpPr>
        <p:spPr>
          <a:xfrm>
            <a:off x="6459493" y="2852928"/>
            <a:ext cx="2252456" cy="20574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no</a:t>
            </a:r>
            <a:endParaRPr b="0" i="0" sz="1100" u="none" cap="none" strike="noStrike">
              <a:solidFill>
                <a:srgbClr val="000000"/>
              </a:solidFill>
              <a:latin typeface="Arial"/>
              <a:ea typeface="Arial"/>
              <a:cs typeface="Arial"/>
              <a:sym typeface="Arial"/>
            </a:endParaRPr>
          </a:p>
        </p:txBody>
      </p:sp>
      <p:sp>
        <p:nvSpPr>
          <p:cNvPr id="647" name="Google Shape;647;p35"/>
          <p:cNvSpPr/>
          <p:nvPr/>
        </p:nvSpPr>
        <p:spPr>
          <a:xfrm>
            <a:off x="377200" y="3079242"/>
            <a:ext cx="8389615" cy="274320"/>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8" name="Google Shape;648;p35"/>
          <p:cNvSpPr txBox="1"/>
          <p:nvPr/>
        </p:nvSpPr>
        <p:spPr>
          <a:xfrm>
            <a:off x="459498" y="3099816"/>
            <a:ext cx="1200182"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advantages</a:t>
            </a:r>
            <a:endParaRPr b="0" i="0" sz="1100" u="none" cap="none" strike="noStrike">
              <a:solidFill>
                <a:srgbClr val="000000"/>
              </a:solidFill>
              <a:latin typeface="Arial"/>
              <a:ea typeface="Arial"/>
              <a:cs typeface="Arial"/>
              <a:sym typeface="Arial"/>
            </a:endParaRPr>
          </a:p>
        </p:txBody>
      </p:sp>
      <p:sp>
        <p:nvSpPr>
          <p:cNvPr id="649" name="Google Shape;649;p35"/>
          <p:cNvSpPr txBox="1"/>
          <p:nvPr/>
        </p:nvSpPr>
        <p:spPr>
          <a:xfrm>
            <a:off x="1735120" y="3099816"/>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100% real data, </a:t>
            </a:r>
            <a:r>
              <a:rPr lang="en" sz="800">
                <a:solidFill>
                  <a:srgbClr val="0B0B0B"/>
                </a:solidFill>
                <a:latin typeface="Calibri"/>
                <a:ea typeface="Calibri"/>
                <a:cs typeface="Calibri"/>
                <a:sym typeface="Calibri"/>
              </a:rPr>
              <a:t>computation cost</a:t>
            </a:r>
            <a:endParaRPr b="0" i="0" sz="1100" u="none" cap="none" strike="noStrike">
              <a:solidFill>
                <a:srgbClr val="000000"/>
              </a:solidFill>
              <a:latin typeface="Arial"/>
              <a:ea typeface="Arial"/>
              <a:cs typeface="Arial"/>
              <a:sym typeface="Arial"/>
            </a:endParaRPr>
          </a:p>
        </p:txBody>
      </p:sp>
      <p:sp>
        <p:nvSpPr>
          <p:cNvPr id="650" name="Google Shape;650;p35"/>
          <p:cNvSpPr txBox="1"/>
          <p:nvPr/>
        </p:nvSpPr>
        <p:spPr>
          <a:xfrm>
            <a:off x="4097307" y="3099816"/>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consistent size, alignment</a:t>
            </a:r>
            <a:endParaRPr b="0" i="0" sz="1100" u="none" cap="none" strike="noStrike">
              <a:solidFill>
                <a:srgbClr val="000000"/>
              </a:solidFill>
              <a:latin typeface="Arial"/>
              <a:ea typeface="Arial"/>
              <a:cs typeface="Arial"/>
              <a:sym typeface="Arial"/>
            </a:endParaRPr>
          </a:p>
        </p:txBody>
      </p:sp>
      <p:sp>
        <p:nvSpPr>
          <p:cNvPr id="651" name="Google Shape;651;p35"/>
          <p:cNvSpPr txBox="1"/>
          <p:nvPr/>
        </p:nvSpPr>
        <p:spPr>
          <a:xfrm>
            <a:off x="6459493" y="3099816"/>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lang="en" sz="800">
                <a:solidFill>
                  <a:srgbClr val="0B0B0B"/>
                </a:solidFill>
                <a:latin typeface="Calibri"/>
                <a:ea typeface="Calibri"/>
                <a:cs typeface="Calibri"/>
                <a:sym typeface="Calibri"/>
              </a:rPr>
              <a:t>uses all </a:t>
            </a:r>
            <a:r>
              <a:rPr lang="en" sz="800">
                <a:solidFill>
                  <a:srgbClr val="0B0B0B"/>
                </a:solidFill>
                <a:latin typeface="Calibri"/>
                <a:ea typeface="Calibri"/>
                <a:cs typeface="Calibri"/>
                <a:sym typeface="Calibri"/>
              </a:rPr>
              <a:t>pixels</a:t>
            </a:r>
            <a:r>
              <a:rPr lang="en" sz="800">
                <a:solidFill>
                  <a:srgbClr val="0B0B0B"/>
                </a:solidFill>
                <a:latin typeface="Calibri"/>
                <a:ea typeface="Calibri"/>
                <a:cs typeface="Calibri"/>
                <a:sym typeface="Calibri"/>
              </a:rPr>
              <a:t>, </a:t>
            </a:r>
            <a:r>
              <a:rPr b="0" i="0" lang="en" sz="800" u="none" cap="none" strike="noStrike">
                <a:solidFill>
                  <a:srgbClr val="0B0B0B"/>
                </a:solidFill>
                <a:latin typeface="Calibri"/>
                <a:ea typeface="Calibri"/>
                <a:cs typeface="Calibri"/>
                <a:sym typeface="Calibri"/>
              </a:rPr>
              <a:t>all pixels equal (K²)</a:t>
            </a:r>
            <a:endParaRPr b="0" i="0" sz="1100" u="none" cap="none" strike="noStrike">
              <a:solidFill>
                <a:srgbClr val="000000"/>
              </a:solidFill>
              <a:latin typeface="Arial"/>
              <a:ea typeface="Arial"/>
              <a:cs typeface="Arial"/>
              <a:sym typeface="Arial"/>
            </a:endParaRPr>
          </a:p>
        </p:txBody>
      </p:sp>
      <p:sp>
        <p:nvSpPr>
          <p:cNvPr id="652" name="Google Shape;652;p35"/>
          <p:cNvSpPr txBox="1"/>
          <p:nvPr/>
        </p:nvSpPr>
        <p:spPr>
          <a:xfrm>
            <a:off x="459498" y="3415284"/>
            <a:ext cx="1200182"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limitations</a:t>
            </a:r>
            <a:endParaRPr b="0" i="0" sz="1100" u="none" cap="none" strike="noStrike">
              <a:solidFill>
                <a:srgbClr val="000000"/>
              </a:solidFill>
              <a:latin typeface="Arial"/>
              <a:ea typeface="Arial"/>
              <a:cs typeface="Arial"/>
              <a:sym typeface="Arial"/>
            </a:endParaRPr>
          </a:p>
        </p:txBody>
      </p:sp>
      <p:sp>
        <p:nvSpPr>
          <p:cNvPr id="653" name="Google Shape;653;p35"/>
          <p:cNvSpPr txBox="1"/>
          <p:nvPr/>
        </p:nvSpPr>
        <p:spPr>
          <a:xfrm>
            <a:off x="1735120" y="3415284"/>
            <a:ext cx="2252456"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shrinks · biased against edges</a:t>
            </a:r>
            <a:endParaRPr b="0" i="0" sz="1100" u="none" cap="none" strike="noStrike">
              <a:solidFill>
                <a:srgbClr val="000000"/>
              </a:solidFill>
              <a:latin typeface="Arial"/>
              <a:ea typeface="Arial"/>
              <a:cs typeface="Arial"/>
              <a:sym typeface="Arial"/>
            </a:endParaRPr>
          </a:p>
        </p:txBody>
      </p:sp>
      <p:sp>
        <p:nvSpPr>
          <p:cNvPr id="654" name="Google Shape;654;p35"/>
          <p:cNvSpPr txBox="1"/>
          <p:nvPr/>
        </p:nvSpPr>
        <p:spPr>
          <a:xfrm>
            <a:off x="4097307" y="3415284"/>
            <a:ext cx="2252456"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fabricated rim · must pick pad values</a:t>
            </a:r>
            <a:endParaRPr b="0" i="0" sz="1100" u="none" cap="none" strike="noStrike">
              <a:solidFill>
                <a:srgbClr val="000000"/>
              </a:solidFill>
              <a:latin typeface="Arial"/>
              <a:ea typeface="Arial"/>
              <a:cs typeface="Arial"/>
              <a:sym typeface="Arial"/>
            </a:endParaRPr>
          </a:p>
        </p:txBody>
      </p:sp>
      <p:sp>
        <p:nvSpPr>
          <p:cNvPr id="655" name="Google Shape;655;p35"/>
          <p:cNvSpPr txBox="1"/>
          <p:nvPr/>
        </p:nvSpPr>
        <p:spPr>
          <a:xfrm>
            <a:off x="6459493" y="3415284"/>
            <a:ext cx="2252456" cy="27432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grows · outer band mostly padding</a:t>
            </a:r>
            <a:endParaRPr b="0" i="0" sz="1100" u="none" cap="none" strike="noStrike">
              <a:solidFill>
                <a:srgbClr val="000000"/>
              </a:solidFill>
              <a:latin typeface="Arial"/>
              <a:ea typeface="Arial"/>
              <a:cs typeface="Arial"/>
              <a:sym typeface="Arial"/>
            </a:endParaRPr>
          </a:p>
        </p:txBody>
      </p:sp>
      <p:sp>
        <p:nvSpPr>
          <p:cNvPr id="656" name="Google Shape;656;p35"/>
          <p:cNvSpPr/>
          <p:nvPr/>
        </p:nvSpPr>
        <p:spPr>
          <a:xfrm>
            <a:off x="377200" y="3710178"/>
            <a:ext cx="8389615" cy="260604"/>
          </a:xfrm>
          <a:prstGeom prst="rect">
            <a:avLst/>
          </a:prstGeom>
          <a:solidFill>
            <a:srgbClr val="FFFFFF"/>
          </a:solidFill>
          <a:ln cap="flat" cmpd="sng" w="12700">
            <a:solidFill>
              <a:srgbClr val="E3E1D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7" name="Google Shape;657;p35"/>
          <p:cNvSpPr txBox="1"/>
          <p:nvPr/>
        </p:nvSpPr>
        <p:spPr>
          <a:xfrm>
            <a:off x="459498" y="3730752"/>
            <a:ext cx="1200182" cy="260604"/>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when to use</a:t>
            </a:r>
            <a:endParaRPr b="0" i="0" sz="1100" u="none" cap="none" strike="noStrike">
              <a:solidFill>
                <a:srgbClr val="000000"/>
              </a:solidFill>
              <a:latin typeface="Arial"/>
              <a:ea typeface="Arial"/>
              <a:cs typeface="Arial"/>
              <a:sym typeface="Arial"/>
            </a:endParaRPr>
          </a:p>
        </p:txBody>
      </p:sp>
      <p:sp>
        <p:nvSpPr>
          <p:cNvPr id="658" name="Google Shape;658;p35"/>
          <p:cNvSpPr txBox="1"/>
          <p:nvPr/>
        </p:nvSpPr>
        <p:spPr>
          <a:xfrm>
            <a:off x="1735120" y="3730752"/>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efficiency, don’t need edge info., real data only</a:t>
            </a:r>
            <a:endParaRPr b="0" i="0" sz="1100" u="none" cap="none" strike="noStrike">
              <a:solidFill>
                <a:srgbClr val="000000"/>
              </a:solidFill>
              <a:latin typeface="Arial"/>
              <a:ea typeface="Arial"/>
              <a:cs typeface="Arial"/>
              <a:sym typeface="Arial"/>
            </a:endParaRPr>
          </a:p>
        </p:txBody>
      </p:sp>
      <p:sp>
        <p:nvSpPr>
          <p:cNvPr id="659" name="Google Shape;659;p35"/>
          <p:cNvSpPr txBox="1"/>
          <p:nvPr/>
        </p:nvSpPr>
        <p:spPr>
          <a:xfrm>
            <a:off x="4097307" y="3730752"/>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need consistent size, some info. loss is okay</a:t>
            </a:r>
            <a:endParaRPr b="0" i="0" sz="1100" u="none" cap="none" strike="noStrike">
              <a:solidFill>
                <a:srgbClr val="000000"/>
              </a:solidFill>
              <a:latin typeface="Arial"/>
              <a:ea typeface="Arial"/>
              <a:cs typeface="Arial"/>
              <a:sym typeface="Arial"/>
            </a:endParaRPr>
          </a:p>
        </p:txBody>
      </p:sp>
      <p:sp>
        <p:nvSpPr>
          <p:cNvPr id="660" name="Google Shape;660;p35"/>
          <p:cNvSpPr txBox="1"/>
          <p:nvPr/>
        </p:nvSpPr>
        <p:spPr>
          <a:xfrm>
            <a:off x="6459493" y="3730752"/>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all pixels matter!</a:t>
            </a:r>
            <a:endParaRPr b="0" i="0" sz="1100" u="none" cap="none" strike="noStrike">
              <a:solidFill>
                <a:srgbClr val="000000"/>
              </a:solidFill>
              <a:latin typeface="Arial"/>
              <a:ea typeface="Arial"/>
              <a:cs typeface="Arial"/>
              <a:sym typeface="Arial"/>
            </a:endParaRPr>
          </a:p>
        </p:txBody>
      </p:sp>
      <p:sp>
        <p:nvSpPr>
          <p:cNvPr id="661" name="Google Shape;661;p35"/>
          <p:cNvSpPr txBox="1"/>
          <p:nvPr/>
        </p:nvSpPr>
        <p:spPr>
          <a:xfrm>
            <a:off x="459498" y="4032504"/>
            <a:ext cx="1200300" cy="384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1" i="0" lang="en" sz="800" u="none" cap="none" strike="noStrike">
                <a:solidFill>
                  <a:srgbClr val="52514E"/>
                </a:solidFill>
                <a:latin typeface="Calibri"/>
                <a:ea typeface="Calibri"/>
                <a:cs typeface="Calibri"/>
                <a:sym typeface="Calibri"/>
              </a:rPr>
              <a:t>examples</a:t>
            </a:r>
            <a:endParaRPr b="0" i="0" sz="1100" u="none" cap="none" strike="noStrike">
              <a:solidFill>
                <a:srgbClr val="000000"/>
              </a:solidFill>
              <a:latin typeface="Arial"/>
              <a:ea typeface="Arial"/>
              <a:cs typeface="Arial"/>
              <a:sym typeface="Arial"/>
            </a:endParaRPr>
          </a:p>
        </p:txBody>
      </p:sp>
      <p:sp>
        <p:nvSpPr>
          <p:cNvPr id="662" name="Google Shape;662;p35"/>
          <p:cNvSpPr txBox="1"/>
          <p:nvPr/>
        </p:nvSpPr>
        <p:spPr>
          <a:xfrm>
            <a:off x="1735120" y="4032504"/>
            <a:ext cx="22524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template matching · autofocus · Zoom</a:t>
            </a:r>
            <a:endParaRPr b="0" i="0" sz="1100" u="none" cap="none" strike="noStrike">
              <a:solidFill>
                <a:srgbClr val="000000"/>
              </a:solidFill>
              <a:latin typeface="Arial"/>
              <a:ea typeface="Arial"/>
              <a:cs typeface="Arial"/>
              <a:sym typeface="Arial"/>
            </a:endParaRPr>
          </a:p>
        </p:txBody>
      </p:sp>
      <p:sp>
        <p:nvSpPr>
          <p:cNvPr id="663" name="Google Shape;663;p35"/>
          <p:cNvSpPr txBox="1"/>
          <p:nvPr/>
        </p:nvSpPr>
        <p:spPr>
          <a:xfrm>
            <a:off x="4097307" y="4032504"/>
            <a:ext cx="2252456" cy="384048"/>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video games · photo filters · overlays</a:t>
            </a:r>
            <a:endParaRPr b="0" i="0" sz="1100" u="none" cap="none" strike="noStrike">
              <a:solidFill>
                <a:srgbClr val="000000"/>
              </a:solidFill>
              <a:latin typeface="Arial"/>
              <a:ea typeface="Arial"/>
              <a:cs typeface="Arial"/>
              <a:sym typeface="Arial"/>
            </a:endParaRPr>
          </a:p>
        </p:txBody>
      </p:sp>
      <p:sp>
        <p:nvSpPr>
          <p:cNvPr id="664" name="Google Shape;664;p35"/>
          <p:cNvSpPr txBox="1"/>
          <p:nvPr/>
        </p:nvSpPr>
        <p:spPr>
          <a:xfrm>
            <a:off x="6459493" y="4032504"/>
            <a:ext cx="2252456" cy="384048"/>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0B0B0B"/>
                </a:solidFill>
                <a:latin typeface="Calibri"/>
                <a:ea typeface="Calibri"/>
                <a:cs typeface="Calibri"/>
                <a:sym typeface="Calibri"/>
              </a:rPr>
              <a:t>tracking at the edge · audio · glows</a:t>
            </a:r>
            <a:endParaRPr b="0" i="0" sz="1100" u="none" cap="none" strike="noStrike">
              <a:solidFill>
                <a:srgbClr val="000000"/>
              </a:solidFill>
              <a:latin typeface="Arial"/>
              <a:ea typeface="Arial"/>
              <a:cs typeface="Arial"/>
              <a:sym typeface="Arial"/>
            </a:endParaRPr>
          </a:p>
        </p:txBody>
      </p:sp>
      <p:sp>
        <p:nvSpPr>
          <p:cNvPr id="665" name="Google Shape;665;p35"/>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6" name="Google Shape;666;p35"/>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7" name="Google Shape;667;p35"/>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8" name="Google Shape;668;p35"/>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
        <p:nvSpPr>
          <p:cNvPr id="669" name="Google Shape;669;p35"/>
          <p:cNvSpPr/>
          <p:nvPr/>
        </p:nvSpPr>
        <p:spPr>
          <a:xfrm>
            <a:off x="8229819" y="4869180"/>
            <a:ext cx="534938" cy="192024"/>
          </a:xfrm>
          <a:prstGeom prst="roundRect">
            <a:avLst>
              <a:gd fmla="val 16667" name="adj"/>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Calibri"/>
                <a:ea typeface="Calibri"/>
                <a:cs typeface="Calibri"/>
                <a:sym typeface="Calibri"/>
              </a:rPr>
              <a:t>11 / 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36"/>
          <p:cNvSpPr/>
          <p:nvPr/>
        </p:nvSpPr>
        <p:spPr>
          <a:xfrm>
            <a:off x="0" y="0"/>
            <a:ext cx="9144000" cy="5143500"/>
          </a:xfrm>
          <a:prstGeom prst="rect">
            <a:avLst/>
          </a:prstGeom>
          <a:solidFill>
            <a:srgbClr val="F3F5F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6" name="Google Shape;676;p36"/>
          <p:cNvSpPr/>
          <p:nvPr/>
        </p:nvSpPr>
        <p:spPr>
          <a:xfrm>
            <a:off x="0" y="0"/>
            <a:ext cx="3054863" cy="61722"/>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7" name="Google Shape;677;p36"/>
          <p:cNvSpPr/>
          <p:nvPr/>
        </p:nvSpPr>
        <p:spPr>
          <a:xfrm>
            <a:off x="3048005" y="0"/>
            <a:ext cx="3054863" cy="61722"/>
          </a:xfrm>
          <a:prstGeom prst="rect">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8" name="Google Shape;678;p36"/>
          <p:cNvSpPr/>
          <p:nvPr/>
        </p:nvSpPr>
        <p:spPr>
          <a:xfrm>
            <a:off x="6096010" y="0"/>
            <a:ext cx="3054863" cy="61722"/>
          </a:xfrm>
          <a:prstGeom prst="rect">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9" name="Google Shape;679;p36"/>
          <p:cNvSpPr/>
          <p:nvPr/>
        </p:nvSpPr>
        <p:spPr>
          <a:xfrm>
            <a:off x="8394416"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0" name="Google Shape;680;p36"/>
          <p:cNvSpPr/>
          <p:nvPr/>
        </p:nvSpPr>
        <p:spPr>
          <a:xfrm>
            <a:off x="8497289"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1" name="Google Shape;681;p36"/>
          <p:cNvSpPr/>
          <p:nvPr/>
        </p:nvSpPr>
        <p:spPr>
          <a:xfrm>
            <a:off x="8600161" y="20574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2" name="Google Shape;682;p36"/>
          <p:cNvSpPr/>
          <p:nvPr/>
        </p:nvSpPr>
        <p:spPr>
          <a:xfrm>
            <a:off x="8394416"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3" name="Google Shape;683;p36"/>
          <p:cNvSpPr/>
          <p:nvPr/>
        </p:nvSpPr>
        <p:spPr>
          <a:xfrm>
            <a:off x="8497289" y="308609"/>
            <a:ext cx="78869" cy="78867"/>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4" name="Google Shape;684;p36"/>
          <p:cNvSpPr/>
          <p:nvPr/>
        </p:nvSpPr>
        <p:spPr>
          <a:xfrm>
            <a:off x="8600161" y="308609"/>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5" name="Google Shape;685;p36"/>
          <p:cNvSpPr/>
          <p:nvPr/>
        </p:nvSpPr>
        <p:spPr>
          <a:xfrm>
            <a:off x="8394416"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6" name="Google Shape;686;p36"/>
          <p:cNvSpPr/>
          <p:nvPr/>
        </p:nvSpPr>
        <p:spPr>
          <a:xfrm>
            <a:off x="8497289"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7" name="Google Shape;687;p36"/>
          <p:cNvSpPr/>
          <p:nvPr/>
        </p:nvSpPr>
        <p:spPr>
          <a:xfrm>
            <a:off x="8600161" y="411480"/>
            <a:ext cx="78869" cy="78867"/>
          </a:xfrm>
          <a:prstGeom prst="rect">
            <a:avLst/>
          </a:prstGeom>
          <a:solidFill>
            <a:srgbClr val="B6C3D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8" name="Google Shape;688;p36"/>
          <p:cNvSpPr txBox="1"/>
          <p:nvPr/>
        </p:nvSpPr>
        <p:spPr>
          <a:xfrm>
            <a:off x="377200" y="150876"/>
            <a:ext cx="5486546" cy="24003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900"/>
              <a:buFont typeface="Arial"/>
              <a:buNone/>
            </a:pPr>
            <a:r>
              <a:rPr b="1" i="0" lang="en" sz="900" u="none" cap="none" strike="noStrike">
                <a:solidFill>
                  <a:srgbClr val="0D366B"/>
                </a:solidFill>
                <a:latin typeface="Calibri"/>
                <a:ea typeface="Calibri"/>
                <a:cs typeface="Calibri"/>
                <a:sym typeface="Calibri"/>
              </a:rPr>
              <a:t>THANK YOU</a:t>
            </a:r>
            <a:endParaRPr b="0" i="0" sz="1100" u="none" cap="none" strike="noStrike">
              <a:solidFill>
                <a:srgbClr val="000000"/>
              </a:solidFill>
              <a:latin typeface="Arial"/>
              <a:ea typeface="Arial"/>
              <a:cs typeface="Arial"/>
              <a:sym typeface="Arial"/>
            </a:endParaRPr>
          </a:p>
        </p:txBody>
      </p:sp>
      <p:sp>
        <p:nvSpPr>
          <p:cNvPr id="689" name="Google Shape;689;p36"/>
          <p:cNvSpPr txBox="1"/>
          <p:nvPr/>
        </p:nvSpPr>
        <p:spPr>
          <a:xfrm>
            <a:off x="377200" y="384048"/>
            <a:ext cx="8389615" cy="425196"/>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2000"/>
              <a:buFont typeface="Arial"/>
              <a:buNone/>
            </a:pPr>
            <a:r>
              <a:rPr b="1" i="0" lang="en" sz="2000" u="none" cap="none" strike="noStrike">
                <a:solidFill>
                  <a:srgbClr val="0B0B0B"/>
                </a:solidFill>
                <a:latin typeface="Calibri"/>
                <a:ea typeface="Calibri"/>
                <a:cs typeface="Calibri"/>
                <a:sym typeface="Calibri"/>
              </a:rPr>
              <a:t>References &amp; acknowledgements</a:t>
            </a:r>
            <a:endParaRPr b="0" i="0" sz="1100" u="none" cap="none" strike="noStrike">
              <a:solidFill>
                <a:srgbClr val="000000"/>
              </a:solidFill>
              <a:latin typeface="Arial"/>
              <a:ea typeface="Arial"/>
              <a:cs typeface="Arial"/>
              <a:sym typeface="Arial"/>
            </a:endParaRPr>
          </a:p>
        </p:txBody>
      </p:sp>
      <p:sp>
        <p:nvSpPr>
          <p:cNvPr id="690" name="Google Shape;690;p36"/>
          <p:cNvSpPr/>
          <p:nvPr/>
        </p:nvSpPr>
        <p:spPr>
          <a:xfrm>
            <a:off x="377200" y="877824"/>
            <a:ext cx="754400" cy="24003"/>
          </a:xfrm>
          <a:prstGeom prst="rect">
            <a:avLst/>
          </a:prstGeom>
          <a:solidFill>
            <a:srgbClr val="0D366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1" name="Google Shape;691;p36"/>
          <p:cNvSpPr/>
          <p:nvPr/>
        </p:nvSpPr>
        <p:spPr>
          <a:xfrm>
            <a:off x="1131600" y="884682"/>
            <a:ext cx="7635215" cy="12344"/>
          </a:xfrm>
          <a:prstGeom prst="rect">
            <a:avLst/>
          </a:prstGeom>
          <a:solidFill>
            <a:srgbClr val="C3C2B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2" name="Google Shape;692;p36"/>
          <p:cNvSpPr txBox="1"/>
          <p:nvPr/>
        </p:nvSpPr>
        <p:spPr>
          <a:xfrm>
            <a:off x="409132" y="1164790"/>
            <a:ext cx="41148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References</a:t>
            </a:r>
            <a:endParaRPr b="0" i="0" sz="1100" u="none" cap="none" strike="noStrike">
              <a:solidFill>
                <a:srgbClr val="000000"/>
              </a:solidFill>
              <a:latin typeface="Arial"/>
              <a:ea typeface="Arial"/>
              <a:cs typeface="Arial"/>
              <a:sym typeface="Arial"/>
            </a:endParaRPr>
          </a:p>
        </p:txBody>
      </p:sp>
      <p:sp>
        <p:nvSpPr>
          <p:cNvPr id="693" name="Google Shape;693;p36"/>
          <p:cNvSpPr txBox="1"/>
          <p:nvPr/>
        </p:nvSpPr>
        <p:spPr>
          <a:xfrm>
            <a:off x="409132" y="1439110"/>
            <a:ext cx="4320600" cy="1662300"/>
          </a:xfrm>
          <a:prstGeom prst="rect">
            <a:avLst/>
          </a:prstGeom>
          <a:noFill/>
          <a:ln>
            <a:noFill/>
          </a:ln>
        </p:spPr>
        <p:txBody>
          <a:bodyPr anchorCtr="0" anchor="t" bIns="34275" lIns="68575" spcFirstLastPara="1" rIns="68575" wrap="square" tIns="34275">
            <a:spAutoFit/>
          </a:bodyPr>
          <a:lstStyle/>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Dive Into Deep Learning (</a:t>
            </a:r>
            <a:r>
              <a:rPr b="0" i="0" lang="en" sz="900" u="sng" cap="none" strike="noStrike">
                <a:solidFill>
                  <a:schemeClr val="hlink"/>
                </a:solidFill>
                <a:latin typeface="Calibri"/>
                <a:ea typeface="Calibri"/>
                <a:cs typeface="Calibri"/>
                <a:sym typeface="Calibri"/>
                <a:hlinkClick r:id="rId3"/>
              </a:rPr>
              <a:t>d2l.ai</a:t>
            </a:r>
            <a:r>
              <a:rPr b="0" i="0" lang="en" sz="900" u="none" cap="none" strike="noStrike">
                <a:solidFill>
                  <a:srgbClr val="52514E"/>
                </a:solidFill>
                <a:latin typeface="Calibri"/>
                <a:ea typeface="Calibri"/>
                <a:cs typeface="Calibri"/>
                <a:sym typeface="Calibri"/>
              </a:rPr>
              <a:t>)</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1" i="0" lang="en" sz="900" u="none" cap="none" strike="noStrike">
                <a:solidFill>
                  <a:srgbClr val="898781"/>
                </a:solidFill>
                <a:latin typeface="Calibri"/>
                <a:ea typeface="Calibri"/>
                <a:cs typeface="Calibri"/>
                <a:sym typeface="Calibri"/>
              </a:rPr>
              <a:t> </a:t>
            </a:r>
            <a:r>
              <a:rPr b="0" i="0" lang="en" sz="900" u="none" cap="none" strike="noStrike">
                <a:solidFill>
                  <a:srgbClr val="52514E"/>
                </a:solidFill>
                <a:latin typeface="Calibri"/>
                <a:ea typeface="Calibri"/>
                <a:cs typeface="Calibri"/>
                <a:sym typeface="Calibri"/>
              </a:rPr>
              <a:t>“Padding in CNN Explained Simply” — youtube.com/watch?v=55Rc5sbHnc4 </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“Convolution Padding – Neural Networks” — </a:t>
            </a:r>
            <a:r>
              <a:rPr b="0" i="0" lang="en" sz="900" u="sng" cap="none" strike="noStrike">
                <a:solidFill>
                  <a:schemeClr val="hlink"/>
                </a:solidFill>
                <a:latin typeface="Calibri"/>
                <a:ea typeface="Calibri"/>
                <a:cs typeface="Calibri"/>
                <a:sym typeface="Calibri"/>
                <a:hlinkClick r:id="rId4"/>
              </a:rPr>
              <a:t>youtube.com/watch?v=ph4LrdntONo</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GeeksforGeeks: “CNN — Introduction to Padding”</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Euron: “CNN Padding: Valid vs. Same Explained!”</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DeepLearning.AI forum: “Padding to 0 — same vs valid”</a:t>
            </a:r>
            <a:endParaRPr b="0" i="0" sz="900" u="none" cap="none" strike="noStrike">
              <a:solidFill>
                <a:srgbClr val="000000"/>
              </a:solidFill>
              <a:latin typeface="Calibri"/>
              <a:ea typeface="Calibri"/>
              <a:cs typeface="Calibri"/>
              <a:sym typeface="Calibri"/>
            </a:endParaRPr>
          </a:p>
          <a:p>
            <a:pPr indent="-285750" lvl="0" marL="457200" marR="0" rtl="0" algn="l">
              <a:lnSpc>
                <a:spcPct val="150000"/>
              </a:lnSpc>
              <a:spcBef>
                <a:spcPts val="0"/>
              </a:spcBef>
              <a:spcAft>
                <a:spcPts val="0"/>
              </a:spcAft>
              <a:buClr>
                <a:srgbClr val="52514E"/>
              </a:buClr>
              <a:buSzPts val="900"/>
              <a:buFont typeface="Calibri"/>
              <a:buChar char="-"/>
            </a:pPr>
            <a:r>
              <a:rPr b="0" i="0" lang="en" sz="900" u="none" cap="none" strike="noStrike">
                <a:solidFill>
                  <a:srgbClr val="52514E"/>
                </a:solidFill>
                <a:latin typeface="Calibri"/>
                <a:ea typeface="Calibri"/>
                <a:cs typeface="Calibri"/>
                <a:sym typeface="Calibri"/>
              </a:rPr>
              <a:t>B. McFee, Digital Signals Theory — “Convolution Modes”</a:t>
            </a:r>
            <a:endParaRPr b="0" i="0" sz="900" u="none" cap="none" strike="noStrike">
              <a:solidFill>
                <a:srgbClr val="000000"/>
              </a:solidFill>
              <a:latin typeface="Calibri"/>
              <a:ea typeface="Calibri"/>
              <a:cs typeface="Calibri"/>
              <a:sym typeface="Calibri"/>
            </a:endParaRPr>
          </a:p>
        </p:txBody>
      </p:sp>
      <p:sp>
        <p:nvSpPr>
          <p:cNvPr id="694" name="Google Shape;694;p36"/>
          <p:cNvSpPr txBox="1"/>
          <p:nvPr/>
        </p:nvSpPr>
        <p:spPr>
          <a:xfrm>
            <a:off x="4866951" y="1164790"/>
            <a:ext cx="38406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1100"/>
              <a:buFont typeface="Arial"/>
              <a:buNone/>
            </a:pPr>
            <a:r>
              <a:rPr b="1" i="0" lang="en" sz="1100" u="none" cap="none" strike="noStrike">
                <a:solidFill>
                  <a:srgbClr val="0B0B0B"/>
                </a:solidFill>
                <a:latin typeface="Calibri"/>
                <a:ea typeface="Calibri"/>
                <a:cs typeface="Calibri"/>
                <a:sym typeface="Calibri"/>
              </a:rPr>
              <a:t>Code</a:t>
            </a:r>
            <a:endParaRPr b="0" i="0" sz="1100" u="none" cap="none" strike="noStrike">
              <a:solidFill>
                <a:srgbClr val="000000"/>
              </a:solidFill>
              <a:latin typeface="Arial"/>
              <a:ea typeface="Arial"/>
              <a:cs typeface="Arial"/>
              <a:sym typeface="Arial"/>
            </a:endParaRPr>
          </a:p>
        </p:txBody>
      </p:sp>
      <p:sp>
        <p:nvSpPr>
          <p:cNvPr id="695" name="Google Shape;695;p36"/>
          <p:cNvSpPr txBox="1"/>
          <p:nvPr/>
        </p:nvSpPr>
        <p:spPr>
          <a:xfrm>
            <a:off x="4866951" y="1439110"/>
            <a:ext cx="3874800" cy="330300"/>
          </a:xfrm>
          <a:prstGeom prst="rect">
            <a:avLst/>
          </a:prstGeom>
          <a:noFill/>
          <a:ln>
            <a:noFill/>
          </a:ln>
        </p:spPr>
        <p:txBody>
          <a:bodyPr anchorCtr="0" anchor="t" bIns="34275" lIns="68575" spcFirstLastPara="1" rIns="68575" wrap="square" tIns="34275">
            <a:spAutoFit/>
          </a:bodyPr>
          <a:lstStyle/>
          <a:p>
            <a:pPr indent="-279400" lvl="0" marL="457200" marR="0" rtl="0" algn="l">
              <a:lnSpc>
                <a:spcPct val="112000"/>
              </a:lnSpc>
              <a:spcBef>
                <a:spcPts val="0"/>
              </a:spcBef>
              <a:spcAft>
                <a:spcPts val="0"/>
              </a:spcAft>
              <a:buClr>
                <a:srgbClr val="000000"/>
              </a:buClr>
              <a:buSzPts val="800"/>
              <a:buFont typeface="Calibri"/>
              <a:buChar char="-"/>
            </a:pPr>
            <a:r>
              <a:rPr b="1" i="0" lang="en" sz="800" u="none" cap="none" strike="noStrike">
                <a:solidFill>
                  <a:srgbClr val="898781"/>
                </a:solidFill>
                <a:latin typeface="Calibri"/>
                <a:ea typeface="Calibri"/>
                <a:cs typeface="Calibri"/>
                <a:sym typeface="Calibri"/>
              </a:rPr>
              <a:t> </a:t>
            </a:r>
            <a:r>
              <a:rPr b="0" i="0" lang="en" sz="800" u="none" cap="none" strike="noStrike">
                <a:solidFill>
                  <a:srgbClr val="52514E"/>
                </a:solidFill>
                <a:latin typeface="Calibri"/>
                <a:ea typeface="Calibri"/>
                <a:cs typeface="Calibri"/>
                <a:sym typeface="Calibri"/>
              </a:rPr>
              <a:t>Code, slides &amp; figures: GitHub repo — https://github.com/wade-g-williams/cs-5330-assessment-1</a:t>
            </a:r>
            <a:endParaRPr b="0" i="0" sz="1100" u="none" cap="none" strike="noStrike">
              <a:solidFill>
                <a:srgbClr val="000000"/>
              </a:solidFill>
              <a:latin typeface="Arial"/>
              <a:ea typeface="Arial"/>
              <a:cs typeface="Arial"/>
              <a:sym typeface="Arial"/>
            </a:endParaRPr>
          </a:p>
        </p:txBody>
      </p:sp>
      <p:sp>
        <p:nvSpPr>
          <p:cNvPr id="696" name="Google Shape;696;p36"/>
          <p:cNvSpPr/>
          <p:nvPr/>
        </p:nvSpPr>
        <p:spPr>
          <a:xfrm>
            <a:off x="377200" y="4930902"/>
            <a:ext cx="48007" cy="48006"/>
          </a:xfrm>
          <a:prstGeom prst="ellipse">
            <a:avLst/>
          </a:prstGeom>
          <a:solidFill>
            <a:srgbClr val="2A78D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7" name="Google Shape;697;p36"/>
          <p:cNvSpPr/>
          <p:nvPr/>
        </p:nvSpPr>
        <p:spPr>
          <a:xfrm>
            <a:off x="466356" y="4930902"/>
            <a:ext cx="48007" cy="48006"/>
          </a:xfrm>
          <a:prstGeom prst="ellipse">
            <a:avLst/>
          </a:prstGeom>
          <a:solidFill>
            <a:srgbClr val="EDA1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8" name="Google Shape;698;p36"/>
          <p:cNvSpPr/>
          <p:nvPr/>
        </p:nvSpPr>
        <p:spPr>
          <a:xfrm>
            <a:off x="555513" y="4930902"/>
            <a:ext cx="48007" cy="48006"/>
          </a:xfrm>
          <a:prstGeom prst="ellipse">
            <a:avLst/>
          </a:prstGeom>
          <a:solidFill>
            <a:srgbClr val="4A3AA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99" name="Google Shape;699;p36"/>
          <p:cNvSpPr txBox="1"/>
          <p:nvPr/>
        </p:nvSpPr>
        <p:spPr>
          <a:xfrm>
            <a:off x="720109" y="4882896"/>
            <a:ext cx="4114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10000"/>
              </a:lnSpc>
              <a:spcBef>
                <a:spcPts val="0"/>
              </a:spcBef>
              <a:spcAft>
                <a:spcPts val="0"/>
              </a:spcAft>
              <a:buClr>
                <a:srgbClr val="000000"/>
              </a:buClr>
              <a:buSzPts val="700"/>
              <a:buFont typeface="Arial"/>
              <a:buNone/>
            </a:pPr>
            <a:r>
              <a:rPr b="0" i="0" lang="en" sz="700" u="none" cap="none" strike="noStrike">
                <a:solidFill>
                  <a:srgbClr val="898781"/>
                </a:solidFill>
                <a:latin typeface="Calibri"/>
                <a:ea typeface="Calibri"/>
                <a:cs typeface="Calibri"/>
                <a:sym typeface="Calibri"/>
              </a:rPr>
              <a:t>CS 5330  ·  Convolution at the Edge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